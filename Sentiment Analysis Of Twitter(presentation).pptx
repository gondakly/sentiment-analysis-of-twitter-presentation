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82" r:id="rId10"/>
    <p:sldId id="263" r:id="rId11"/>
    <p:sldId id="264" r:id="rId12"/>
    <p:sldId id="265" r:id="rId13"/>
    <p:sldId id="266" r:id="rId14"/>
    <p:sldId id="267" r:id="rId15"/>
    <p:sldId id="268" r:id="rId16"/>
    <p:sldId id="278" r:id="rId17"/>
    <p:sldId id="280" r:id="rId18"/>
    <p:sldId id="284" r:id="rId19"/>
    <p:sldId id="286" r:id="rId20"/>
    <p:sldId id="288" r:id="rId21"/>
    <p:sldId id="290" r:id="rId22"/>
    <p:sldId id="292" r:id="rId23"/>
    <p:sldId id="294" r:id="rId24"/>
    <p:sldId id="296" r:id="rId25"/>
    <p:sldId id="298" r:id="rId26"/>
    <p:sldId id="300" r:id="rId27"/>
    <p:sldId id="302" r:id="rId28"/>
    <p:sldId id="304" r:id="rId29"/>
    <p:sldId id="306" r:id="rId30"/>
    <p:sldId id="308" r:id="rId31"/>
    <p:sldId id="310" r:id="rId32"/>
    <p:sldId id="312" r:id="rId33"/>
    <p:sldId id="314" r:id="rId34"/>
    <p:sldId id="317" r:id="rId35"/>
    <p:sldId id="319" r:id="rId36"/>
    <p:sldId id="321" r:id="rId37"/>
    <p:sldId id="323" r:id="rId38"/>
    <p:sldId id="325" r:id="rId39"/>
    <p:sldId id="327" r:id="rId40"/>
    <p:sldId id="329" r:id="rId41"/>
    <p:sldId id="331" r:id="rId42"/>
    <p:sldId id="333" r:id="rId43"/>
    <p:sldId id="338" r:id="rId44"/>
    <p:sldId id="340" r:id="rId45"/>
    <p:sldId id="276" r:id="rId46"/>
    <p:sldId id="336" r:id="rId47"/>
    <p:sldId id="342" r:id="rId48"/>
    <p:sldId id="335" r:id="rId49"/>
  </p:sldIdLst>
  <p:sldSz cx="18288000" cy="10287000"/>
  <p:notesSz cx="6858000" cy="9144000"/>
  <p:embeddedFontLst>
    <p:embeddedFont>
      <p:font typeface="SimSun" panose="02010600030101010101" pitchFamily="2" charset="-122"/>
      <p:regular r:id="rId54"/>
    </p:embeddedFont>
    <p:embeddedFont>
      <p:font typeface="Asap Condensed Bold" panose="020F0806030202060203"/>
      <p:bold r:id="rId55"/>
    </p:embeddedFont>
    <p:embeddedFont>
      <p:font typeface="Asap Condensed" panose="020F0506030202060203"/>
      <p:regular r:id="rId56"/>
    </p:embeddedFont>
    <p:embeddedFont>
      <p:font typeface="Calibri" panose="020F0502020204030204" charset="0"/>
      <p:regular r:id="rId57"/>
      <p:bold r:id="rId58"/>
      <p:italic r:id="rId59"/>
      <p:boldItalic r:id="rId6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0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0" Type="http://schemas.openxmlformats.org/officeDocument/2006/relationships/font" Target="fonts/font7.fntdata"/><Relationship Id="rId6" Type="http://schemas.openxmlformats.org/officeDocument/2006/relationships/slide" Target="slides/slide4.xml"/><Relationship Id="rId59" Type="http://schemas.openxmlformats.org/officeDocument/2006/relationships/font" Target="fonts/font6.fntdata"/><Relationship Id="rId58" Type="http://schemas.openxmlformats.org/officeDocument/2006/relationships/font" Target="fonts/font5.fntdata"/><Relationship Id="rId57" Type="http://schemas.openxmlformats.org/officeDocument/2006/relationships/font" Target="fonts/font4.fntdata"/><Relationship Id="rId56" Type="http://schemas.openxmlformats.org/officeDocument/2006/relationships/font" Target="fonts/font3.fntdata"/><Relationship Id="rId55" Type="http://schemas.openxmlformats.org/officeDocument/2006/relationships/font" Target="fonts/font2.fntdata"/><Relationship Id="rId54" Type="http://schemas.openxmlformats.org/officeDocument/2006/relationships/font" Target="fonts/font1.fntdata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61183" y="455093"/>
            <a:ext cx="2790777" cy="279077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AFE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5101219" y="764332"/>
            <a:ext cx="681586" cy="68158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6729710" y="9133205"/>
            <a:ext cx="1171575" cy="1052195"/>
            <a:chOff x="0" y="0"/>
            <a:chExt cx="526512" cy="43927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26512" cy="439279"/>
            </a:xfrm>
            <a:custGeom>
              <a:avLst/>
              <a:gdLst/>
              <a:ahLst/>
              <a:cxnLst/>
              <a:rect l="l" t="t" r="r" b="b"/>
              <a:pathLst>
                <a:path w="526512" h="439279">
                  <a:moveTo>
                    <a:pt x="263256" y="0"/>
                  </a:moveTo>
                  <a:cubicBezTo>
                    <a:pt x="117864" y="0"/>
                    <a:pt x="0" y="98336"/>
                    <a:pt x="0" y="219639"/>
                  </a:cubicBezTo>
                  <a:cubicBezTo>
                    <a:pt x="0" y="340943"/>
                    <a:pt x="117864" y="439279"/>
                    <a:pt x="263256" y="439279"/>
                  </a:cubicBezTo>
                  <a:cubicBezTo>
                    <a:pt x="408648" y="439279"/>
                    <a:pt x="526512" y="340943"/>
                    <a:pt x="526512" y="219639"/>
                  </a:cubicBezTo>
                  <a:cubicBezTo>
                    <a:pt x="526512" y="98336"/>
                    <a:pt x="408648" y="0"/>
                    <a:pt x="263256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49360" y="-6443"/>
              <a:ext cx="427791" cy="404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3658481" y="9153772"/>
            <a:ext cx="802223" cy="80222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4" name="Freeform 14"/>
          <p:cNvSpPr/>
          <p:nvPr/>
        </p:nvSpPr>
        <p:spPr>
          <a:xfrm>
            <a:off x="1290320" y="4331335"/>
            <a:ext cx="15707360" cy="4767580"/>
          </a:xfrm>
          <a:custGeom>
            <a:avLst/>
            <a:gdLst/>
            <a:ahLst/>
            <a:cxnLst/>
            <a:rect l="l" t="t" r="r" b="b"/>
            <a:pathLst>
              <a:path w="15707141" h="4182428">
                <a:moveTo>
                  <a:pt x="0" y="0"/>
                </a:moveTo>
                <a:lnTo>
                  <a:pt x="15707140" y="0"/>
                </a:lnTo>
                <a:lnTo>
                  <a:pt x="15707140" y="4182428"/>
                </a:lnTo>
                <a:lnTo>
                  <a:pt x="0" y="418242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22954" b="-20315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679700" y="4169256"/>
            <a:ext cx="9084385" cy="4344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95"/>
              </a:lnSpc>
            </a:pPr>
            <a:r>
              <a:rPr lang="en-US" sz="8280" b="1">
                <a:solidFill>
                  <a:srgbClr val="000000"/>
                </a:solidFill>
                <a:latin typeface="Asap Condensed Bold" panose="020F0806030202060203"/>
                <a:ea typeface="Asap Condensed Bold" panose="020F0806030202060203"/>
                <a:cs typeface="Asap Condensed Bold" panose="020F0806030202060203"/>
                <a:sym typeface="Asap Condensed Bold" panose="020F0806030202060203"/>
              </a:rPr>
              <a:t>SENTIMENT ANALYSIS</a:t>
            </a:r>
            <a:endParaRPr lang="en-US" sz="8280" b="1">
              <a:solidFill>
                <a:srgbClr val="000000"/>
              </a:solidFill>
              <a:latin typeface="Asap Condensed Bold" panose="020F0806030202060203"/>
              <a:ea typeface="Asap Condensed Bold" panose="020F0806030202060203"/>
              <a:cs typeface="Asap Condensed Bold" panose="020F0806030202060203"/>
              <a:sym typeface="Asap Condensed Bold" panose="020F0806030202060203"/>
            </a:endParaRPr>
          </a:p>
          <a:p>
            <a:pPr algn="ctr">
              <a:lnSpc>
                <a:spcPts val="11595"/>
              </a:lnSpc>
              <a:spcBef>
                <a:spcPct val="0"/>
              </a:spcBef>
            </a:pPr>
            <a:r>
              <a:rPr lang="en-US" sz="8280" b="1">
                <a:solidFill>
                  <a:srgbClr val="000000"/>
                </a:solidFill>
                <a:latin typeface="Asap Condensed Bold" panose="020F0806030202060203"/>
                <a:ea typeface="Asap Condensed Bold" panose="020F0806030202060203"/>
                <a:cs typeface="Asap Condensed Bold" panose="020F0806030202060203"/>
                <a:sym typeface="Asap Condensed Bold" panose="020F0806030202060203"/>
              </a:rPr>
              <a:t>OF</a:t>
            </a:r>
            <a:endParaRPr lang="en-US" sz="8280" b="1">
              <a:solidFill>
                <a:srgbClr val="000000"/>
              </a:solidFill>
              <a:latin typeface="Asap Condensed Bold" panose="020F0806030202060203"/>
              <a:ea typeface="Asap Condensed Bold" panose="020F0806030202060203"/>
              <a:cs typeface="Asap Condensed Bold" panose="020F0806030202060203"/>
              <a:sym typeface="Asap Condensed Bold" panose="020F0806030202060203"/>
            </a:endParaRPr>
          </a:p>
          <a:p>
            <a:pPr algn="ctr">
              <a:lnSpc>
                <a:spcPts val="11595"/>
              </a:lnSpc>
              <a:spcBef>
                <a:spcPct val="0"/>
              </a:spcBef>
            </a:pPr>
            <a:r>
              <a:rPr lang="en-US" sz="8280" b="1">
                <a:solidFill>
                  <a:srgbClr val="000000"/>
                </a:solidFill>
                <a:latin typeface="Asap Condensed Bold" panose="020F0806030202060203"/>
                <a:ea typeface="Asap Condensed Bold" panose="020F0806030202060203"/>
                <a:cs typeface="Asap Condensed Bold" panose="020F0806030202060203"/>
                <a:sym typeface="Asap Condensed Bold" panose="020F0806030202060203"/>
              </a:rPr>
              <a:t>TWITTER</a:t>
            </a:r>
            <a:endParaRPr lang="en-US" sz="8280" b="1">
              <a:solidFill>
                <a:srgbClr val="000000"/>
              </a:solidFill>
              <a:latin typeface="Asap Condensed Bold" panose="020F0806030202060203"/>
              <a:ea typeface="Asap Condensed Bold" panose="020F0806030202060203"/>
              <a:cs typeface="Asap Condensed Bold" panose="020F0806030202060203"/>
              <a:sym typeface="Asap Condensed Bold" panose="020F0806030202060203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385040" y="8456459"/>
            <a:ext cx="7517921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(Logistic Regression Based)</a:t>
            </a:r>
            <a:endParaRPr lang="en-US" sz="3500">
              <a:solidFill>
                <a:srgbClr val="000000"/>
              </a:solidFill>
              <a:latin typeface="Dumondi Condensed"/>
              <a:ea typeface="Dumondi Condensed"/>
              <a:cs typeface="Dumondi Condensed"/>
              <a:sym typeface="Dumondi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A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38116" y="1028700"/>
            <a:ext cx="16230600" cy="8715256"/>
            <a:chOff x="0" y="0"/>
            <a:chExt cx="21083246" cy="11320955"/>
          </a:xfrm>
        </p:grpSpPr>
        <p:sp>
          <p:nvSpPr>
            <p:cNvPr id="3" name="Freeform 3"/>
            <p:cNvSpPr/>
            <p:nvPr/>
          </p:nvSpPr>
          <p:spPr>
            <a:xfrm>
              <a:off x="31750" y="31750"/>
              <a:ext cx="21019746" cy="11257455"/>
            </a:xfrm>
            <a:custGeom>
              <a:avLst/>
              <a:gdLst/>
              <a:ahLst/>
              <a:cxnLst/>
              <a:rect l="l" t="t" r="r" b="b"/>
              <a:pathLst>
                <a:path w="21019746" h="11257455">
                  <a:moveTo>
                    <a:pt x="20927036" y="11257455"/>
                  </a:moveTo>
                  <a:lnTo>
                    <a:pt x="92710" y="11257455"/>
                  </a:lnTo>
                  <a:cubicBezTo>
                    <a:pt x="41910" y="11257455"/>
                    <a:pt x="0" y="11215545"/>
                    <a:pt x="0" y="1116474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0925766" y="0"/>
                  </a:lnTo>
                  <a:cubicBezTo>
                    <a:pt x="20976566" y="0"/>
                    <a:pt x="21018477" y="41910"/>
                    <a:pt x="21018477" y="92710"/>
                  </a:cubicBezTo>
                  <a:lnTo>
                    <a:pt x="21018477" y="11163475"/>
                  </a:lnTo>
                  <a:cubicBezTo>
                    <a:pt x="21019746" y="11215545"/>
                    <a:pt x="20977836" y="11257455"/>
                    <a:pt x="20927036" y="1125745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1083246" cy="11320955"/>
            </a:xfrm>
            <a:custGeom>
              <a:avLst/>
              <a:gdLst/>
              <a:ahLst/>
              <a:cxnLst/>
              <a:rect l="l" t="t" r="r" b="b"/>
              <a:pathLst>
                <a:path w="21083246" h="11320955">
                  <a:moveTo>
                    <a:pt x="20958786" y="59690"/>
                  </a:moveTo>
                  <a:cubicBezTo>
                    <a:pt x="20994346" y="59690"/>
                    <a:pt x="21023556" y="88900"/>
                    <a:pt x="21023556" y="124460"/>
                  </a:cubicBezTo>
                  <a:lnTo>
                    <a:pt x="21023556" y="11196495"/>
                  </a:lnTo>
                  <a:cubicBezTo>
                    <a:pt x="21023556" y="11232055"/>
                    <a:pt x="20994346" y="11261265"/>
                    <a:pt x="20958786" y="11261265"/>
                  </a:cubicBezTo>
                  <a:lnTo>
                    <a:pt x="124460" y="11261265"/>
                  </a:lnTo>
                  <a:cubicBezTo>
                    <a:pt x="88900" y="11261265"/>
                    <a:pt x="59690" y="11232055"/>
                    <a:pt x="59690" y="1119649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0958786" y="59690"/>
                  </a:lnTo>
                  <a:moveTo>
                    <a:pt x="2095878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196495"/>
                  </a:lnTo>
                  <a:cubicBezTo>
                    <a:pt x="0" y="11265075"/>
                    <a:pt x="55880" y="11320955"/>
                    <a:pt x="124460" y="11320955"/>
                  </a:cubicBezTo>
                  <a:lnTo>
                    <a:pt x="20958786" y="11320955"/>
                  </a:lnTo>
                  <a:cubicBezTo>
                    <a:pt x="21027366" y="11320955"/>
                    <a:pt x="21083246" y="11265075"/>
                    <a:pt x="21083246" y="11196495"/>
                  </a:cubicBezTo>
                  <a:lnTo>
                    <a:pt x="21083246" y="124460"/>
                  </a:lnTo>
                  <a:cubicBezTo>
                    <a:pt x="21083246" y="55880"/>
                    <a:pt x="21027366" y="0"/>
                    <a:pt x="20958786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id="5" name="Group 5"/>
          <p:cNvGrpSpPr/>
          <p:nvPr/>
        </p:nvGrpSpPr>
        <p:grpSpPr>
          <a:xfrm rot="0">
            <a:off x="15342189" y="1247681"/>
            <a:ext cx="1446171" cy="629638"/>
            <a:chOff x="0" y="0"/>
            <a:chExt cx="1928229" cy="839517"/>
          </a:xfrm>
        </p:grpSpPr>
        <p:grpSp>
          <p:nvGrpSpPr>
            <p:cNvPr id="6" name="Group 6"/>
            <p:cNvGrpSpPr/>
            <p:nvPr/>
          </p:nvGrpSpPr>
          <p:grpSpPr>
            <a:xfrm rot="0">
              <a:off x="0" y="0"/>
              <a:ext cx="839517" cy="839517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1088712" y="0"/>
              <a:ext cx="839517" cy="839517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 rot="0">
            <a:off x="2539025" y="2944342"/>
            <a:ext cx="715144" cy="71514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AFE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4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2539025" y="3699309"/>
            <a:ext cx="715144" cy="71514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AFE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4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2539025" y="5507742"/>
            <a:ext cx="715144" cy="715144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40"/>
                </a:lnSpc>
              </a:pPr>
            </a:p>
          </p:txBody>
        </p:sp>
      </p:grpSp>
      <p:grpSp>
        <p:nvGrpSpPr>
          <p:cNvPr id="21" name="Group 21"/>
          <p:cNvGrpSpPr/>
          <p:nvPr/>
        </p:nvGrpSpPr>
        <p:grpSpPr>
          <a:xfrm rot="0">
            <a:off x="2539025" y="6435613"/>
            <a:ext cx="715144" cy="715144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40"/>
                </a:lnSpc>
              </a:pP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028630" y="1919664"/>
            <a:ext cx="16230561" cy="476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5" name="Group 25"/>
          <p:cNvGrpSpPr/>
          <p:nvPr/>
        </p:nvGrpSpPr>
        <p:grpSpPr>
          <a:xfrm rot="0">
            <a:off x="2539025" y="7421675"/>
            <a:ext cx="715144" cy="715144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40"/>
                </a:lnSpc>
              </a:p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2044065" y="1724918"/>
            <a:ext cx="10468840" cy="131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80"/>
              </a:lnSpc>
              <a:spcBef>
                <a:spcPct val="0"/>
              </a:spcBef>
            </a:pPr>
            <a:r>
              <a:rPr lang="en-US" sz="7700" b="1">
                <a:solidFill>
                  <a:srgbClr val="000000"/>
                </a:solidFill>
                <a:latin typeface="Asap Condensed Bold" panose="020F0806030202060203"/>
                <a:ea typeface="Asap Condensed Bold" panose="020F0806030202060203"/>
                <a:cs typeface="Asap Condensed Bold" panose="020F0806030202060203"/>
                <a:sym typeface="Asap Condensed Bold" panose="020F0806030202060203"/>
              </a:rPr>
              <a:t>TABLE OF CONTENTS</a:t>
            </a:r>
            <a:endParaRPr lang="en-US" sz="7700" b="1">
              <a:solidFill>
                <a:srgbClr val="000000"/>
              </a:solidFill>
              <a:latin typeface="Asap Condensed Bold" panose="020F0806030202060203"/>
              <a:ea typeface="Asap Condensed Bold" panose="020F0806030202060203"/>
              <a:cs typeface="Asap Condensed Bold" panose="020F0806030202060203"/>
              <a:sym typeface="Asap Condensed Bold" panose="020F0806030202060203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496172" y="2858617"/>
            <a:ext cx="5462368" cy="705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0"/>
              </a:lnSpc>
              <a:spcBef>
                <a:spcPct val="0"/>
              </a:spcBef>
            </a:pPr>
            <a:r>
              <a:rPr lang="en-US" sz="4095" b="1" spc="81">
                <a:solidFill>
                  <a:srgbClr val="000000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Overview</a:t>
            </a:r>
            <a:endParaRPr lang="en-US" sz="4095" b="1" spc="81">
              <a:solidFill>
                <a:srgbClr val="000000"/>
              </a:solidFill>
              <a:latin typeface="Dumondi Condensed Bold"/>
              <a:ea typeface="Dumondi Condensed Bold"/>
              <a:cs typeface="Dumondi Condensed Bold"/>
              <a:sym typeface="Dumondi Condensed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3496172" y="5422017"/>
            <a:ext cx="5462368" cy="708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0"/>
              </a:lnSpc>
              <a:spcBef>
                <a:spcPct val="0"/>
              </a:spcBef>
            </a:pPr>
            <a:r>
              <a:rPr lang="en-US" sz="4095" b="1" spc="81">
                <a:solidFill>
                  <a:srgbClr val="000000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Python code </a:t>
            </a:r>
            <a:endParaRPr lang="en-US" sz="4095" b="1" spc="81">
              <a:solidFill>
                <a:srgbClr val="000000"/>
              </a:solidFill>
              <a:latin typeface="Dumondi Condensed Bold"/>
              <a:ea typeface="Dumondi Condensed Bold"/>
              <a:cs typeface="Dumondi Condensed Bold"/>
              <a:sym typeface="Dumondi Condensed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363720" y="8453025"/>
            <a:ext cx="5462368" cy="708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0"/>
              </a:lnSpc>
              <a:spcBef>
                <a:spcPct val="0"/>
              </a:spcBef>
            </a:pPr>
            <a:r>
              <a:rPr lang="en-US" sz="4095" b="1" spc="81">
                <a:solidFill>
                  <a:srgbClr val="000000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Resources</a:t>
            </a:r>
            <a:endParaRPr lang="en-US" sz="4095" b="1" spc="81">
              <a:solidFill>
                <a:srgbClr val="000000"/>
              </a:solidFill>
              <a:latin typeface="Dumondi Condensed Bold"/>
              <a:ea typeface="Dumondi Condensed Bold"/>
              <a:cs typeface="Dumondi Condensed Bold"/>
              <a:sym typeface="Dumondi Condensed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3496172" y="6450125"/>
            <a:ext cx="5462368" cy="708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0"/>
              </a:lnSpc>
              <a:spcBef>
                <a:spcPct val="0"/>
              </a:spcBef>
            </a:pPr>
            <a:r>
              <a:rPr lang="en-US" sz="4095" b="1" spc="81">
                <a:solidFill>
                  <a:srgbClr val="000000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R-Code</a:t>
            </a:r>
            <a:endParaRPr lang="en-US" sz="4095" b="1" spc="81">
              <a:solidFill>
                <a:srgbClr val="000000"/>
              </a:solidFill>
              <a:latin typeface="Dumondi Condensed Bold"/>
              <a:ea typeface="Dumondi Condensed Bold"/>
              <a:cs typeface="Dumondi Condensed Bold"/>
              <a:sym typeface="Dumondi Condensed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2648576" y="2858617"/>
            <a:ext cx="496042" cy="700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0"/>
              </a:lnSpc>
              <a:spcBef>
                <a:spcPct val="0"/>
              </a:spcBef>
            </a:pPr>
            <a:r>
              <a:rPr lang="en-US" sz="4095" b="1" spc="81">
                <a:solidFill>
                  <a:srgbClr val="FFFFFF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1</a:t>
            </a:r>
            <a:endParaRPr lang="en-US" sz="4095" b="1" spc="81">
              <a:solidFill>
                <a:srgbClr val="FFFFFF"/>
              </a:solidFill>
              <a:latin typeface="Dumondi Condensed Bold"/>
              <a:ea typeface="Dumondi Condensed Bold"/>
              <a:cs typeface="Dumondi Condensed Bold"/>
              <a:sym typeface="Dumondi Condensed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2648576" y="3675721"/>
            <a:ext cx="496042" cy="700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0"/>
              </a:lnSpc>
              <a:spcBef>
                <a:spcPct val="0"/>
              </a:spcBef>
            </a:pPr>
            <a:r>
              <a:rPr lang="en-US" sz="4095" b="1" spc="81">
                <a:solidFill>
                  <a:srgbClr val="FFFFFF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2</a:t>
            </a:r>
            <a:endParaRPr lang="en-US" sz="4095" b="1" spc="81">
              <a:solidFill>
                <a:srgbClr val="FFFFFF"/>
              </a:solidFill>
              <a:latin typeface="Dumondi Condensed Bold"/>
              <a:ea typeface="Dumondi Condensed Bold"/>
              <a:cs typeface="Dumondi Condensed Bold"/>
              <a:sym typeface="Dumondi Condensed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2648576" y="5554006"/>
            <a:ext cx="496042" cy="700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0"/>
              </a:lnSpc>
              <a:spcBef>
                <a:spcPct val="0"/>
              </a:spcBef>
            </a:pPr>
            <a:r>
              <a:rPr lang="en-US" sz="4095" b="1" spc="81">
                <a:solidFill>
                  <a:srgbClr val="FFFFFF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4</a:t>
            </a:r>
            <a:endParaRPr lang="en-US" sz="4095" b="1" spc="81">
              <a:solidFill>
                <a:srgbClr val="FFFFFF"/>
              </a:solidFill>
              <a:latin typeface="Dumondi Condensed Bold"/>
              <a:ea typeface="Dumondi Condensed Bold"/>
              <a:cs typeface="Dumondi Condensed Bold"/>
              <a:sym typeface="Dumondi Condensed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2658101" y="6450125"/>
            <a:ext cx="496042" cy="700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0"/>
              </a:lnSpc>
              <a:spcBef>
                <a:spcPct val="0"/>
              </a:spcBef>
            </a:pPr>
            <a:r>
              <a:rPr lang="en-US" sz="4095" b="1" spc="81">
                <a:solidFill>
                  <a:srgbClr val="FFFFFF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5</a:t>
            </a:r>
            <a:endParaRPr lang="en-US" sz="4095" b="1" spc="81">
              <a:solidFill>
                <a:srgbClr val="FFFFFF"/>
              </a:solidFill>
              <a:latin typeface="Dumondi Condensed Bold"/>
              <a:ea typeface="Dumondi Condensed Bold"/>
              <a:cs typeface="Dumondi Condensed Bold"/>
              <a:sym typeface="Dumondi Condensed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648576" y="7393869"/>
            <a:ext cx="496042" cy="700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0"/>
              </a:lnSpc>
              <a:spcBef>
                <a:spcPct val="0"/>
              </a:spcBef>
            </a:pPr>
            <a:r>
              <a:rPr lang="en-US" sz="4095" b="1" spc="81">
                <a:solidFill>
                  <a:srgbClr val="FFFFFF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6</a:t>
            </a:r>
            <a:endParaRPr lang="en-US" sz="4095" b="1" spc="81">
              <a:solidFill>
                <a:srgbClr val="FFFFFF"/>
              </a:solidFill>
              <a:latin typeface="Dumondi Condensed Bold"/>
              <a:ea typeface="Dumondi Condensed Bold"/>
              <a:cs typeface="Dumondi Condensed Bold"/>
              <a:sym typeface="Dumondi Condensed 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3496172" y="3573761"/>
            <a:ext cx="5462368" cy="708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0"/>
              </a:lnSpc>
              <a:spcBef>
                <a:spcPct val="0"/>
              </a:spcBef>
            </a:pPr>
            <a:r>
              <a:rPr lang="en-US" sz="4095" b="1" spc="81">
                <a:solidFill>
                  <a:srgbClr val="000000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Authors</a:t>
            </a:r>
            <a:endParaRPr lang="en-US" sz="4095" b="1" spc="81">
              <a:solidFill>
                <a:srgbClr val="000000"/>
              </a:solidFill>
              <a:latin typeface="Dumondi Condensed Bold"/>
              <a:ea typeface="Dumondi Condensed Bold"/>
              <a:cs typeface="Dumondi Condensed Bold"/>
              <a:sym typeface="Dumondi Condensed Bold"/>
            </a:endParaRPr>
          </a:p>
        </p:txBody>
      </p:sp>
      <p:grpSp>
        <p:nvGrpSpPr>
          <p:cNvPr id="39" name="Group 39"/>
          <p:cNvGrpSpPr/>
          <p:nvPr/>
        </p:nvGrpSpPr>
        <p:grpSpPr>
          <a:xfrm rot="0">
            <a:off x="2539025" y="8505189"/>
            <a:ext cx="715144" cy="715144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40"/>
                </a:lnSpc>
              </a:pP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3496172" y="7386071"/>
            <a:ext cx="5462368" cy="708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0"/>
              </a:lnSpc>
              <a:spcBef>
                <a:spcPct val="0"/>
              </a:spcBef>
            </a:pPr>
            <a:r>
              <a:rPr lang="en-US" sz="4095" b="1" spc="81">
                <a:solidFill>
                  <a:srgbClr val="000000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Weka</a:t>
            </a:r>
            <a:endParaRPr lang="en-US" sz="4095" b="1" spc="81">
              <a:solidFill>
                <a:srgbClr val="000000"/>
              </a:solidFill>
              <a:latin typeface="Dumondi Condensed Bold"/>
              <a:ea typeface="Dumondi Condensed Bold"/>
              <a:cs typeface="Dumondi Condensed Bold"/>
              <a:sym typeface="Dumondi Condensed Bold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2648576" y="8519700"/>
            <a:ext cx="496042" cy="700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0"/>
              </a:lnSpc>
              <a:spcBef>
                <a:spcPct val="0"/>
              </a:spcBef>
            </a:pPr>
            <a:r>
              <a:rPr lang="en-US" sz="4095" b="1" spc="81">
                <a:solidFill>
                  <a:srgbClr val="FFFFFF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7</a:t>
            </a:r>
            <a:endParaRPr lang="en-US" sz="4095" b="1" spc="81">
              <a:solidFill>
                <a:srgbClr val="FFFFFF"/>
              </a:solidFill>
              <a:latin typeface="Dumondi Condensed Bold"/>
              <a:ea typeface="Dumondi Condensed Bold"/>
              <a:cs typeface="Dumondi Condensed Bold"/>
              <a:sym typeface="Dumondi Condensed Bold"/>
            </a:endParaRPr>
          </a:p>
        </p:txBody>
      </p:sp>
      <p:grpSp>
        <p:nvGrpSpPr>
          <p:cNvPr id="44" name="Group 44"/>
          <p:cNvGrpSpPr/>
          <p:nvPr/>
        </p:nvGrpSpPr>
        <p:grpSpPr>
          <a:xfrm rot="0">
            <a:off x="2539025" y="4557328"/>
            <a:ext cx="715144" cy="71514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AFE0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40"/>
                </a:lnSpc>
              </a:pP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3496310" y="4361180"/>
            <a:ext cx="6871970" cy="9823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5730"/>
              </a:lnSpc>
              <a:spcBef>
                <a:spcPct val="0"/>
              </a:spcBef>
            </a:pPr>
            <a:r>
              <a:rPr lang="en-US" sz="4095" b="1" spc="81">
                <a:solidFill>
                  <a:srgbClr val="000000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Algorithm&amp;Packages(R&amp;Pyth</a:t>
            </a:r>
            <a:r>
              <a:rPr lang="en-GB" altLang="en-US" sz="4095" b="1" spc="81">
                <a:solidFill>
                  <a:srgbClr val="000000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o</a:t>
            </a:r>
            <a:r>
              <a:rPr lang="en-US" sz="4095" b="1" spc="81">
                <a:solidFill>
                  <a:srgbClr val="000000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n)</a:t>
            </a:r>
            <a:endParaRPr lang="en-US" sz="4095" b="1" spc="81">
              <a:solidFill>
                <a:srgbClr val="000000"/>
              </a:solidFill>
              <a:latin typeface="Dumondi Condensed Bold"/>
              <a:ea typeface="Dumondi Condensed Bold"/>
              <a:cs typeface="Dumondi Condensed Bold"/>
              <a:sym typeface="Dumondi Condensed Bold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2648576" y="4492785"/>
            <a:ext cx="496042" cy="700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0"/>
              </a:lnSpc>
              <a:spcBef>
                <a:spcPct val="0"/>
              </a:spcBef>
            </a:pPr>
            <a:r>
              <a:rPr lang="en-US" sz="4095" b="1" spc="81">
                <a:solidFill>
                  <a:srgbClr val="FFFFFF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3</a:t>
            </a:r>
            <a:endParaRPr lang="en-US" sz="4095" b="1" spc="81">
              <a:solidFill>
                <a:srgbClr val="FFFFFF"/>
              </a:solidFill>
              <a:latin typeface="Dumondi Condensed Bold"/>
              <a:ea typeface="Dumondi Condensed Bold"/>
              <a:cs typeface="Dumondi Condensed Bold"/>
              <a:sym typeface="Dumondi Condensed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602939" y="1019692"/>
            <a:ext cx="2241710" cy="22417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125653" y="373269"/>
            <a:ext cx="4144169" cy="414416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923418" y="1617613"/>
            <a:ext cx="14441095" cy="7051773"/>
            <a:chOff x="0" y="0"/>
            <a:chExt cx="18758712" cy="9160122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18695212" cy="9096621"/>
            </a:xfrm>
            <a:custGeom>
              <a:avLst/>
              <a:gdLst/>
              <a:ahLst/>
              <a:cxnLst/>
              <a:rect l="l" t="t" r="r" b="b"/>
              <a:pathLst>
                <a:path w="18695212" h="9096621">
                  <a:moveTo>
                    <a:pt x="18602502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8601232" y="0"/>
                  </a:lnTo>
                  <a:cubicBezTo>
                    <a:pt x="18652032" y="0"/>
                    <a:pt x="18693943" y="41910"/>
                    <a:pt x="18693943" y="92710"/>
                  </a:cubicBezTo>
                  <a:lnTo>
                    <a:pt x="18693943" y="9002642"/>
                  </a:lnTo>
                  <a:cubicBezTo>
                    <a:pt x="18695212" y="9054712"/>
                    <a:pt x="18653302" y="9096621"/>
                    <a:pt x="18602502" y="909662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8758712" cy="9160121"/>
            </a:xfrm>
            <a:custGeom>
              <a:avLst/>
              <a:gdLst/>
              <a:ahLst/>
              <a:cxnLst/>
              <a:rect l="l" t="t" r="r" b="b"/>
              <a:pathLst>
                <a:path w="18758712" h="9160121">
                  <a:moveTo>
                    <a:pt x="18634252" y="59690"/>
                  </a:moveTo>
                  <a:cubicBezTo>
                    <a:pt x="18669812" y="59690"/>
                    <a:pt x="18699021" y="88900"/>
                    <a:pt x="18699021" y="124460"/>
                  </a:cubicBezTo>
                  <a:lnTo>
                    <a:pt x="18699021" y="9035662"/>
                  </a:lnTo>
                  <a:cubicBezTo>
                    <a:pt x="18699021" y="9071221"/>
                    <a:pt x="18669812" y="9100431"/>
                    <a:pt x="18634252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8634252" y="59690"/>
                  </a:lnTo>
                  <a:moveTo>
                    <a:pt x="18634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18634252" y="9160121"/>
                  </a:lnTo>
                  <a:cubicBezTo>
                    <a:pt x="18702832" y="9160121"/>
                    <a:pt x="18758712" y="9104242"/>
                    <a:pt x="18758712" y="9035662"/>
                  </a:cubicBezTo>
                  <a:lnTo>
                    <a:pt x="18758712" y="124460"/>
                  </a:lnTo>
                  <a:cubicBezTo>
                    <a:pt x="18758712" y="55880"/>
                    <a:pt x="18702832" y="0"/>
                    <a:pt x="1863425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14244405" y="1809420"/>
            <a:ext cx="1521084" cy="662253"/>
            <a:chOff x="0" y="0"/>
            <a:chExt cx="2028112" cy="883004"/>
          </a:xfrm>
        </p:grpSpPr>
        <p:grpSp>
          <p:nvGrpSpPr>
            <p:cNvPr id="12" name="Group 12"/>
            <p:cNvGrpSpPr/>
            <p:nvPr/>
          </p:nvGrpSpPr>
          <p:grpSpPr>
            <a:xfrm rot="0">
              <a:off x="0" y="0"/>
              <a:ext cx="883004" cy="883004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1145108" y="0"/>
              <a:ext cx="883004" cy="883004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5294157" y="3320963"/>
            <a:ext cx="7699617" cy="131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0"/>
              </a:lnSpc>
              <a:spcBef>
                <a:spcPct val="0"/>
              </a:spcBef>
            </a:pPr>
            <a:r>
              <a:rPr lang="en-US" sz="7700" b="1">
                <a:solidFill>
                  <a:srgbClr val="000000"/>
                </a:solidFill>
                <a:latin typeface="Asap Condensed Bold" panose="020F0806030202060203"/>
                <a:ea typeface="Asap Condensed Bold" panose="020F0806030202060203"/>
                <a:cs typeface="Asap Condensed Bold" panose="020F0806030202060203"/>
                <a:sym typeface="Asap Condensed Bold" panose="020F0806030202060203"/>
              </a:rPr>
              <a:t>OVERVIEW</a:t>
            </a:r>
            <a:endParaRPr lang="en-US" sz="7700" b="1">
              <a:solidFill>
                <a:srgbClr val="000000"/>
              </a:solidFill>
              <a:latin typeface="Asap Condensed Bold" panose="020F0806030202060203"/>
              <a:ea typeface="Asap Condensed Bold" panose="020F0806030202060203"/>
              <a:cs typeface="Asap Condensed Bold" panose="020F0806030202060203"/>
              <a:sym typeface="Asap Condensed Bold" panose="020F0806030202060203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103888" y="4668432"/>
            <a:ext cx="6080154" cy="3027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5"/>
              </a:lnSpc>
            </a:pPr>
          </a:p>
          <a:p>
            <a:pPr algn="ctr">
              <a:lnSpc>
                <a:spcPts val="3985"/>
              </a:lnSpc>
            </a:pPr>
            <a:r>
              <a:rPr lang="en-US" sz="3495" b="1" spc="76">
                <a:solidFill>
                  <a:srgbClr val="000000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 To train a logistic Regression model that classifies the sentiment tweets as positive or negative in Python, R and WEKA</a:t>
            </a:r>
            <a:endParaRPr lang="en-US" sz="3495" b="1" spc="76">
              <a:solidFill>
                <a:srgbClr val="000000"/>
              </a:solidFill>
              <a:latin typeface="Dumondi Condensed Bold"/>
              <a:ea typeface="Dumondi Condensed Bold"/>
              <a:cs typeface="Dumondi Condensed Bold"/>
              <a:sym typeface="Dumondi Condensed Bold"/>
            </a:endParaRPr>
          </a:p>
          <a:p>
            <a:pPr algn="ctr">
              <a:lnSpc>
                <a:spcPts val="3985"/>
              </a:lnSpc>
            </a:pPr>
          </a:p>
        </p:txBody>
      </p:sp>
      <p:sp>
        <p:nvSpPr>
          <p:cNvPr id="20" name="AutoShape 20"/>
          <p:cNvSpPr/>
          <p:nvPr/>
        </p:nvSpPr>
        <p:spPr>
          <a:xfrm>
            <a:off x="1923418" y="2612293"/>
            <a:ext cx="14441095" cy="2381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" name="Group 21"/>
          <p:cNvGrpSpPr/>
          <p:nvPr/>
        </p:nvGrpSpPr>
        <p:grpSpPr>
          <a:xfrm rot="0">
            <a:off x="16004982" y="5666379"/>
            <a:ext cx="1023862" cy="102386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4" name="Group 24"/>
          <p:cNvGrpSpPr/>
          <p:nvPr/>
        </p:nvGrpSpPr>
        <p:grpSpPr>
          <a:xfrm rot="-10106257">
            <a:off x="5366414" y="353269"/>
            <a:ext cx="802223" cy="802223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7" name="Group 27"/>
          <p:cNvGrpSpPr/>
          <p:nvPr/>
        </p:nvGrpSpPr>
        <p:grpSpPr>
          <a:xfrm rot="0">
            <a:off x="14407331" y="6880740"/>
            <a:ext cx="3195301" cy="3195301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2725365" y="9134532"/>
            <a:ext cx="979891" cy="97989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AFE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481520" y="760761"/>
            <a:ext cx="3462352" cy="346235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4741663" y="2449349"/>
            <a:ext cx="4280995" cy="6311385"/>
            <a:chOff x="0" y="0"/>
            <a:chExt cx="6213285" cy="9160122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6149785" cy="9096621"/>
            </a:xfrm>
            <a:custGeom>
              <a:avLst/>
              <a:gdLst/>
              <a:ahLst/>
              <a:cxnLst/>
              <a:rect l="l" t="t" r="r" b="b"/>
              <a:pathLst>
                <a:path w="6149785" h="9096621">
                  <a:moveTo>
                    <a:pt x="6057075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6055805" y="0"/>
                  </a:lnTo>
                  <a:cubicBezTo>
                    <a:pt x="6106605" y="0"/>
                    <a:pt x="6148515" y="41910"/>
                    <a:pt x="6148515" y="92710"/>
                  </a:cubicBezTo>
                  <a:lnTo>
                    <a:pt x="6148515" y="9002642"/>
                  </a:lnTo>
                  <a:cubicBezTo>
                    <a:pt x="6149785" y="9054712"/>
                    <a:pt x="6107875" y="9096621"/>
                    <a:pt x="6057075" y="909662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6213285" cy="9160121"/>
            </a:xfrm>
            <a:custGeom>
              <a:avLst/>
              <a:gdLst/>
              <a:ahLst/>
              <a:cxnLst/>
              <a:rect l="l" t="t" r="r" b="b"/>
              <a:pathLst>
                <a:path w="6213285" h="9160121">
                  <a:moveTo>
                    <a:pt x="6088825" y="59690"/>
                  </a:moveTo>
                  <a:cubicBezTo>
                    <a:pt x="6124385" y="59690"/>
                    <a:pt x="6153595" y="88900"/>
                    <a:pt x="6153595" y="124460"/>
                  </a:cubicBezTo>
                  <a:lnTo>
                    <a:pt x="6153595" y="9035662"/>
                  </a:lnTo>
                  <a:cubicBezTo>
                    <a:pt x="6153595" y="9071221"/>
                    <a:pt x="6124385" y="9100431"/>
                    <a:pt x="6088825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088825" y="59690"/>
                  </a:lnTo>
                  <a:moveTo>
                    <a:pt x="608882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6088825" y="9160121"/>
                  </a:lnTo>
                  <a:cubicBezTo>
                    <a:pt x="6157405" y="9160121"/>
                    <a:pt x="6213285" y="9104242"/>
                    <a:pt x="6213285" y="9035662"/>
                  </a:cubicBezTo>
                  <a:lnTo>
                    <a:pt x="6213285" y="124460"/>
                  </a:lnTo>
                  <a:cubicBezTo>
                    <a:pt x="6213285" y="55880"/>
                    <a:pt x="6157405" y="0"/>
                    <a:pt x="6088825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5087869" y="2798892"/>
            <a:ext cx="1055674" cy="459622"/>
            <a:chOff x="0" y="0"/>
            <a:chExt cx="1407566" cy="612829"/>
          </a:xfrm>
        </p:grpSpPr>
        <p:grpSp>
          <p:nvGrpSpPr>
            <p:cNvPr id="12" name="Group 12"/>
            <p:cNvGrpSpPr/>
            <p:nvPr/>
          </p:nvGrpSpPr>
          <p:grpSpPr>
            <a:xfrm rot="0">
              <a:off x="0" y="0"/>
              <a:ext cx="612829" cy="612829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794736" y="0"/>
              <a:ext cx="612829" cy="612829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8" name="AutoShape 18"/>
          <p:cNvSpPr/>
          <p:nvPr/>
        </p:nvSpPr>
        <p:spPr>
          <a:xfrm>
            <a:off x="4741663" y="3595258"/>
            <a:ext cx="428099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9"/>
          <p:cNvGrpSpPr/>
          <p:nvPr/>
        </p:nvGrpSpPr>
        <p:grpSpPr>
          <a:xfrm rot="0">
            <a:off x="17259300" y="5848448"/>
            <a:ext cx="582715" cy="582715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2" name="Group 22"/>
          <p:cNvGrpSpPr/>
          <p:nvPr/>
        </p:nvGrpSpPr>
        <p:grpSpPr>
          <a:xfrm rot="-10106257">
            <a:off x="3546310" y="467847"/>
            <a:ext cx="802223" cy="802223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3705256" y="6431163"/>
            <a:ext cx="3764814" cy="3764814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9770467" y="2451671"/>
            <a:ext cx="4280995" cy="6311385"/>
            <a:chOff x="0" y="0"/>
            <a:chExt cx="6213285" cy="9160122"/>
          </a:xfrm>
        </p:grpSpPr>
        <p:sp>
          <p:nvSpPr>
            <p:cNvPr id="29" name="Freeform 29"/>
            <p:cNvSpPr/>
            <p:nvPr/>
          </p:nvSpPr>
          <p:spPr>
            <a:xfrm>
              <a:off x="31750" y="31750"/>
              <a:ext cx="6149785" cy="9096621"/>
            </a:xfrm>
            <a:custGeom>
              <a:avLst/>
              <a:gdLst/>
              <a:ahLst/>
              <a:cxnLst/>
              <a:rect l="l" t="t" r="r" b="b"/>
              <a:pathLst>
                <a:path w="6149785" h="9096621">
                  <a:moveTo>
                    <a:pt x="6057075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6055805" y="0"/>
                  </a:lnTo>
                  <a:cubicBezTo>
                    <a:pt x="6106605" y="0"/>
                    <a:pt x="6148515" y="41910"/>
                    <a:pt x="6148515" y="92710"/>
                  </a:cubicBezTo>
                  <a:lnTo>
                    <a:pt x="6148515" y="9002642"/>
                  </a:lnTo>
                  <a:cubicBezTo>
                    <a:pt x="6149785" y="9054712"/>
                    <a:pt x="6107875" y="9096621"/>
                    <a:pt x="6057075" y="909662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6213285" cy="9160121"/>
            </a:xfrm>
            <a:custGeom>
              <a:avLst/>
              <a:gdLst/>
              <a:ahLst/>
              <a:cxnLst/>
              <a:rect l="l" t="t" r="r" b="b"/>
              <a:pathLst>
                <a:path w="6213285" h="9160121">
                  <a:moveTo>
                    <a:pt x="6088825" y="59690"/>
                  </a:moveTo>
                  <a:cubicBezTo>
                    <a:pt x="6124385" y="59690"/>
                    <a:pt x="6153595" y="88900"/>
                    <a:pt x="6153595" y="124460"/>
                  </a:cubicBezTo>
                  <a:lnTo>
                    <a:pt x="6153595" y="9035662"/>
                  </a:lnTo>
                  <a:cubicBezTo>
                    <a:pt x="6153595" y="9071221"/>
                    <a:pt x="6124385" y="9100431"/>
                    <a:pt x="6088825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088825" y="59690"/>
                  </a:lnTo>
                  <a:moveTo>
                    <a:pt x="608882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6088825" y="9160121"/>
                  </a:lnTo>
                  <a:cubicBezTo>
                    <a:pt x="6157405" y="9160121"/>
                    <a:pt x="6213285" y="9104242"/>
                    <a:pt x="6213285" y="9035662"/>
                  </a:cubicBezTo>
                  <a:lnTo>
                    <a:pt x="6213285" y="124460"/>
                  </a:lnTo>
                  <a:cubicBezTo>
                    <a:pt x="6213285" y="55880"/>
                    <a:pt x="6157405" y="0"/>
                    <a:pt x="6088825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id="31" name="AutoShape 31"/>
          <p:cNvSpPr/>
          <p:nvPr/>
        </p:nvSpPr>
        <p:spPr>
          <a:xfrm>
            <a:off x="9727508" y="3595258"/>
            <a:ext cx="428099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2" name="Group 32"/>
          <p:cNvGrpSpPr/>
          <p:nvPr/>
        </p:nvGrpSpPr>
        <p:grpSpPr>
          <a:xfrm rot="0">
            <a:off x="12653178" y="2798892"/>
            <a:ext cx="1052078" cy="458056"/>
            <a:chOff x="0" y="0"/>
            <a:chExt cx="1402770" cy="610741"/>
          </a:xfrm>
        </p:grpSpPr>
        <p:grpSp>
          <p:nvGrpSpPr>
            <p:cNvPr id="33" name="Group 33"/>
            <p:cNvGrpSpPr/>
            <p:nvPr/>
          </p:nvGrpSpPr>
          <p:grpSpPr>
            <a:xfrm rot="0">
              <a:off x="0" y="0"/>
              <a:ext cx="610741" cy="610741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 rot="0">
              <a:off x="792029" y="0"/>
              <a:ext cx="610741" cy="610741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39" name="TextBox 39"/>
          <p:cNvSpPr txBox="1"/>
          <p:nvPr/>
        </p:nvSpPr>
        <p:spPr>
          <a:xfrm>
            <a:off x="10116673" y="3985783"/>
            <a:ext cx="3588583" cy="1031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5"/>
              </a:lnSpc>
            </a:pPr>
            <a:r>
              <a:rPr lang="en-US" sz="2955" b="1">
                <a:solidFill>
                  <a:srgbClr val="000000"/>
                </a:solidFill>
                <a:latin typeface="Asap Condensed Bold" panose="020F0806030202060203"/>
                <a:ea typeface="Asap Condensed Bold" panose="020F0806030202060203"/>
                <a:cs typeface="Asap Condensed Bold" panose="020F0806030202060203"/>
                <a:sym typeface="Asap Condensed Bold" panose="020F0806030202060203"/>
              </a:rPr>
              <a:t>Kareem Adel  </a:t>
            </a:r>
            <a:endParaRPr lang="en-US" sz="2955" b="1">
              <a:solidFill>
                <a:srgbClr val="000000"/>
              </a:solidFill>
              <a:latin typeface="Asap Condensed Bold" panose="020F0806030202060203"/>
              <a:ea typeface="Asap Condensed Bold" panose="020F0806030202060203"/>
              <a:cs typeface="Asap Condensed Bold" panose="020F0806030202060203"/>
              <a:sym typeface="Asap Condensed Bold" panose="020F0806030202060203"/>
            </a:endParaRPr>
          </a:p>
          <a:p>
            <a:pPr algn="ctr">
              <a:lnSpc>
                <a:spcPts val="4135"/>
              </a:lnSpc>
              <a:spcBef>
                <a:spcPct val="0"/>
              </a:spcBef>
            </a:pPr>
            <a:r>
              <a:rPr lang="en-US" sz="2955" b="1">
                <a:solidFill>
                  <a:srgbClr val="000000"/>
                </a:solidFill>
                <a:latin typeface="Asap Condensed Bold" panose="020F0806030202060203"/>
                <a:ea typeface="Asap Condensed Bold" panose="020F0806030202060203"/>
                <a:cs typeface="Asap Condensed Bold" panose="020F0806030202060203"/>
                <a:sym typeface="Asap Condensed Bold" panose="020F0806030202060203"/>
              </a:rPr>
              <a:t>Ragab</a:t>
            </a:r>
            <a:endParaRPr lang="en-US" sz="2955" b="1">
              <a:solidFill>
                <a:srgbClr val="000000"/>
              </a:solidFill>
              <a:latin typeface="Asap Condensed Bold" panose="020F0806030202060203"/>
              <a:ea typeface="Asap Condensed Bold" panose="020F0806030202060203"/>
              <a:cs typeface="Asap Condensed Bold" panose="020F0806030202060203"/>
              <a:sym typeface="Asap Condensed Bold" panose="020F0806030202060203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4956450" y="4128658"/>
            <a:ext cx="3588583" cy="1031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5"/>
              </a:lnSpc>
              <a:spcBef>
                <a:spcPct val="0"/>
              </a:spcBef>
            </a:pPr>
            <a:r>
              <a:rPr lang="en-US" sz="2955" b="1">
                <a:solidFill>
                  <a:srgbClr val="000000"/>
                </a:solidFill>
                <a:latin typeface="Asap Condensed Bold" panose="020F0806030202060203"/>
                <a:ea typeface="Asap Condensed Bold" panose="020F0806030202060203"/>
                <a:cs typeface="Asap Condensed Bold" panose="020F0806030202060203"/>
                <a:sym typeface="Asap Condensed Bold" panose="020F0806030202060203"/>
              </a:rPr>
              <a:t>Abdullah Mohamed Elgondakly</a:t>
            </a:r>
            <a:endParaRPr lang="en-US" sz="2955" b="1">
              <a:solidFill>
                <a:srgbClr val="000000"/>
              </a:solidFill>
              <a:latin typeface="Asap Condensed Bold" panose="020F0806030202060203"/>
              <a:ea typeface="Asap Condensed Bold" panose="020F0806030202060203"/>
              <a:cs typeface="Asap Condensed Bold" panose="020F0806030202060203"/>
              <a:sym typeface="Asap Condensed Bold" panose="020F0806030202060203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5321692" y="1132777"/>
            <a:ext cx="7699617" cy="131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0"/>
              </a:lnSpc>
              <a:spcBef>
                <a:spcPct val="0"/>
              </a:spcBef>
            </a:pPr>
            <a:r>
              <a:rPr lang="en-US" sz="7700" b="1">
                <a:solidFill>
                  <a:srgbClr val="000000"/>
                </a:solidFill>
                <a:latin typeface="Asap Condensed Bold" panose="020F0806030202060203"/>
                <a:ea typeface="Asap Condensed Bold" panose="020F0806030202060203"/>
                <a:cs typeface="Asap Condensed Bold" panose="020F0806030202060203"/>
                <a:sym typeface="Asap Condensed Bold" panose="020F0806030202060203"/>
              </a:rPr>
              <a:t>AUTHORS</a:t>
            </a:r>
            <a:endParaRPr lang="en-US" sz="7700" b="1">
              <a:solidFill>
                <a:srgbClr val="000000"/>
              </a:solidFill>
              <a:latin typeface="Asap Condensed Bold" panose="020F0806030202060203"/>
              <a:ea typeface="Asap Condensed Bold" panose="020F0806030202060203"/>
              <a:cs typeface="Asap Condensed Bold" panose="020F0806030202060203"/>
              <a:sym typeface="Asap Condensed Bold" panose="020F0806030202060203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0116673" y="5336020"/>
            <a:ext cx="3588583" cy="480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5"/>
              </a:lnSpc>
              <a:spcBef>
                <a:spcPct val="0"/>
              </a:spcBef>
            </a:pPr>
            <a:r>
              <a:rPr lang="en-US" sz="2815" i="1" spc="101">
                <a:solidFill>
                  <a:srgbClr val="000000"/>
                </a:solidFill>
                <a:latin typeface="Dumondi Condensed Italics"/>
                <a:ea typeface="Dumondi Condensed Italics"/>
                <a:cs typeface="Dumondi Condensed Italics"/>
                <a:sym typeface="Dumondi Condensed Italics"/>
              </a:rPr>
              <a:t>2305381</a:t>
            </a:r>
            <a:endParaRPr lang="en-US" sz="2815" i="1" spc="101">
              <a:solidFill>
                <a:srgbClr val="000000"/>
              </a:solidFill>
              <a:latin typeface="Dumondi Condensed Italics"/>
              <a:ea typeface="Dumondi Condensed Italics"/>
              <a:cs typeface="Dumondi Condensed Italics"/>
              <a:sym typeface="Dumondi Condensed Italics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5087869" y="5338342"/>
            <a:ext cx="3588583" cy="480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5"/>
              </a:lnSpc>
              <a:spcBef>
                <a:spcPct val="0"/>
              </a:spcBef>
            </a:pPr>
            <a:r>
              <a:rPr lang="en-US" sz="2815" i="1" spc="101">
                <a:solidFill>
                  <a:srgbClr val="000000"/>
                </a:solidFill>
                <a:latin typeface="Dumondi Condensed Italics"/>
                <a:ea typeface="Dumondi Condensed Italics"/>
                <a:cs typeface="Dumondi Condensed Italics"/>
                <a:sym typeface="Dumondi Condensed Italics"/>
              </a:rPr>
              <a:t>2305388</a:t>
            </a:r>
            <a:endParaRPr lang="en-US" sz="2815" i="1" spc="101">
              <a:solidFill>
                <a:srgbClr val="000000"/>
              </a:solidFill>
              <a:latin typeface="Dumondi Condensed Italics"/>
              <a:ea typeface="Dumondi Condensed Italics"/>
              <a:cs typeface="Dumondi Condensed Italics"/>
              <a:sym typeface="Dumondi Condensed Itali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A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161152"/>
            <a:ext cx="16230600" cy="8229600"/>
            <a:chOff x="0" y="0"/>
            <a:chExt cx="21083246" cy="10690097"/>
          </a:xfrm>
        </p:grpSpPr>
        <p:sp>
          <p:nvSpPr>
            <p:cNvPr id="3" name="Freeform 3"/>
            <p:cNvSpPr/>
            <p:nvPr/>
          </p:nvSpPr>
          <p:spPr>
            <a:xfrm>
              <a:off x="31750" y="31750"/>
              <a:ext cx="21019746" cy="10626596"/>
            </a:xfrm>
            <a:custGeom>
              <a:avLst/>
              <a:gdLst/>
              <a:ahLst/>
              <a:cxnLst/>
              <a:rect l="l" t="t" r="r" b="b"/>
              <a:pathLst>
                <a:path w="21019746" h="10626596">
                  <a:moveTo>
                    <a:pt x="20927036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0925766" y="0"/>
                  </a:lnTo>
                  <a:cubicBezTo>
                    <a:pt x="20976566" y="0"/>
                    <a:pt x="21018477" y="41910"/>
                    <a:pt x="21018477" y="92710"/>
                  </a:cubicBezTo>
                  <a:lnTo>
                    <a:pt x="21018477" y="10532617"/>
                  </a:lnTo>
                  <a:cubicBezTo>
                    <a:pt x="21019746" y="10584686"/>
                    <a:pt x="20977836" y="10626596"/>
                    <a:pt x="20927036" y="106265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1083246" cy="10690096"/>
            </a:xfrm>
            <a:custGeom>
              <a:avLst/>
              <a:gdLst/>
              <a:ahLst/>
              <a:cxnLst/>
              <a:rect l="l" t="t" r="r" b="b"/>
              <a:pathLst>
                <a:path w="21083246" h="10690096">
                  <a:moveTo>
                    <a:pt x="20958786" y="59690"/>
                  </a:moveTo>
                  <a:cubicBezTo>
                    <a:pt x="20994346" y="59690"/>
                    <a:pt x="21023556" y="88900"/>
                    <a:pt x="21023556" y="124460"/>
                  </a:cubicBezTo>
                  <a:lnTo>
                    <a:pt x="21023556" y="10565636"/>
                  </a:lnTo>
                  <a:cubicBezTo>
                    <a:pt x="21023556" y="10601196"/>
                    <a:pt x="20994346" y="10630406"/>
                    <a:pt x="20958786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0958786" y="59690"/>
                  </a:lnTo>
                  <a:moveTo>
                    <a:pt x="2095878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20958786" y="10690096"/>
                  </a:lnTo>
                  <a:cubicBezTo>
                    <a:pt x="21027366" y="10690096"/>
                    <a:pt x="21083246" y="10634217"/>
                    <a:pt x="21083246" y="10565636"/>
                  </a:cubicBezTo>
                  <a:lnTo>
                    <a:pt x="21083246" y="124460"/>
                  </a:lnTo>
                  <a:cubicBezTo>
                    <a:pt x="21083246" y="55880"/>
                    <a:pt x="21027366" y="0"/>
                    <a:pt x="20958786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id="5" name="Group 5"/>
          <p:cNvGrpSpPr/>
          <p:nvPr/>
        </p:nvGrpSpPr>
        <p:grpSpPr>
          <a:xfrm rot="0">
            <a:off x="15810540" y="1316799"/>
            <a:ext cx="1066685" cy="464416"/>
            <a:chOff x="0" y="0"/>
            <a:chExt cx="1422246" cy="619221"/>
          </a:xfrm>
        </p:grpSpPr>
        <p:grpSp>
          <p:nvGrpSpPr>
            <p:cNvPr id="6" name="Group 6"/>
            <p:cNvGrpSpPr/>
            <p:nvPr/>
          </p:nvGrpSpPr>
          <p:grpSpPr>
            <a:xfrm rot="0">
              <a:off x="0" y="0"/>
              <a:ext cx="619221" cy="61922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803025" y="0"/>
              <a:ext cx="619221" cy="619221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1170836" y="2105534"/>
            <a:ext cx="7072609" cy="1188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15"/>
              </a:lnSpc>
            </a:pPr>
            <a:r>
              <a:rPr lang="en-US" sz="4560" b="1">
                <a:solidFill>
                  <a:srgbClr val="000000"/>
                </a:solidFill>
                <a:latin typeface="Asap Condensed Bold" panose="020F0806030202060203"/>
                <a:ea typeface="Asap Condensed Bold" panose="020F0806030202060203"/>
                <a:cs typeface="Asap Condensed Bold" panose="020F0806030202060203"/>
                <a:sym typeface="Asap Condensed Bold" panose="020F0806030202060203"/>
              </a:rPr>
              <a:t>The Algorithm</a:t>
            </a:r>
            <a:endParaRPr lang="en-US" sz="4560" b="1">
              <a:solidFill>
                <a:srgbClr val="000000"/>
              </a:solidFill>
              <a:latin typeface="Asap Condensed Bold" panose="020F0806030202060203"/>
              <a:ea typeface="Asap Condensed Bold" panose="020F0806030202060203"/>
              <a:cs typeface="Asap Condensed Bold" panose="020F0806030202060203"/>
              <a:sym typeface="Asap Condensed Bold" panose="020F0806030202060203"/>
            </a:endParaRPr>
          </a:p>
          <a:p>
            <a:pPr algn="just">
              <a:lnSpc>
                <a:spcPts val="4515"/>
              </a:lnSpc>
            </a:pPr>
            <a:r>
              <a:rPr lang="en-US" sz="4560" b="1">
                <a:solidFill>
                  <a:srgbClr val="000000"/>
                </a:solidFill>
                <a:latin typeface="Asap Condensed Bold" panose="020F0806030202060203"/>
                <a:ea typeface="Asap Condensed Bold" panose="020F0806030202060203"/>
                <a:cs typeface="Asap Condensed Bold" panose="020F0806030202060203"/>
                <a:sym typeface="Asap Condensed Bold" panose="020F0806030202060203"/>
              </a:rPr>
              <a:t>(Logistic Regression)</a:t>
            </a:r>
            <a:endParaRPr lang="en-US" sz="4560" b="1">
              <a:solidFill>
                <a:srgbClr val="000000"/>
              </a:solidFill>
              <a:latin typeface="Asap Condensed Bold" panose="020F0806030202060203"/>
              <a:ea typeface="Asap Condensed Bold" panose="020F0806030202060203"/>
              <a:cs typeface="Asap Condensed Bold" panose="020F0806030202060203"/>
              <a:sym typeface="Asap Condensed Bold" panose="020F0806030202060203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028700" y="2029334"/>
            <a:ext cx="16230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>
            <a:off x="5996918" y="2229492"/>
            <a:ext cx="9442064" cy="1236356"/>
          </a:xfrm>
          <a:custGeom>
            <a:avLst/>
            <a:gdLst/>
            <a:ahLst/>
            <a:cxnLst/>
            <a:rect l="l" t="t" r="r" b="b"/>
            <a:pathLst>
              <a:path w="9442064" h="1236356">
                <a:moveTo>
                  <a:pt x="0" y="0"/>
                </a:moveTo>
                <a:lnTo>
                  <a:pt x="9442064" y="0"/>
                </a:lnTo>
                <a:lnTo>
                  <a:pt x="9442064" y="1236355"/>
                </a:lnTo>
                <a:lnTo>
                  <a:pt x="0" y="123635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7855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170836" y="4016482"/>
            <a:ext cx="15173046" cy="1225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3745" lvl="1" indent="-376555" algn="l">
              <a:lnSpc>
                <a:spcPts val="488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49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Binary output &amp; probabilities. </a:t>
            </a:r>
            <a:r>
              <a:rPr lang="en-US" sz="349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Naturally, it models “positive vs. negative” and gives a probability score.</a:t>
            </a:r>
            <a:endParaRPr lang="en-US" sz="349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70836" y="5347061"/>
            <a:ext cx="14639704" cy="1225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3745" lvl="1" indent="-376555" algn="l">
              <a:lnSpc>
                <a:spcPts val="4885"/>
              </a:lnSpc>
              <a:buFont typeface="Arial" panose="020B0604020202020204"/>
              <a:buChar char="•"/>
            </a:pPr>
            <a:r>
              <a:rPr lang="en-US" sz="349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Interpretable coefficients</a:t>
            </a:r>
            <a:endParaRPr lang="en-US" sz="349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4885"/>
              </a:lnSpc>
            </a:pPr>
            <a:r>
              <a:rPr lang="en-US" sz="349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        </a:t>
            </a:r>
            <a:r>
              <a:rPr lang="en-US" sz="349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Each βₖ tells you how much feature xₖ shifts the log-odds of positivity.</a:t>
            </a:r>
            <a:endParaRPr lang="en-US" sz="349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70836" y="6677640"/>
            <a:ext cx="13722226" cy="1225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3745" lvl="1" indent="-376555" algn="l">
              <a:lnSpc>
                <a:spcPts val="4885"/>
              </a:lnSpc>
              <a:buFont typeface="Arial" panose="020B0604020202020204"/>
              <a:buChar char="•"/>
            </a:pPr>
            <a:r>
              <a:rPr lang="en-US" sz="349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Efficient &amp; scalable</a:t>
            </a:r>
            <a:endParaRPr lang="en-US" sz="349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4885"/>
              </a:lnSpc>
            </a:pPr>
            <a:r>
              <a:rPr lang="en-US" sz="3490">
                <a:solidFill>
                  <a:srgbClr val="000000"/>
                </a:solidFill>
                <a:latin typeface="29LT Adir" panose="00000506000000000000"/>
                <a:ea typeface="29LT Adir" panose="00000506000000000000"/>
                <a:cs typeface="29LT Adir" panose="00000506000000000000"/>
                <a:sym typeface="29LT Adir" panose="00000506000000000000"/>
              </a:rPr>
              <a:t>      </a:t>
            </a:r>
            <a:r>
              <a:rPr lang="en-US" sz="349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 </a:t>
            </a:r>
            <a:r>
              <a:rPr lang="en-US" sz="349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Fast training/inference on high-dimensional text features (TF–IDF, n-grams).</a:t>
            </a:r>
            <a:endParaRPr lang="en-US" sz="349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820954" y="7859614"/>
            <a:ext cx="2241710" cy="22417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220465" y="112088"/>
            <a:ext cx="3363512" cy="336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832830" y="1213395"/>
            <a:ext cx="16614973" cy="8711619"/>
            <a:chOff x="0" y="0"/>
            <a:chExt cx="20060094" cy="10517976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19996593" cy="10454476"/>
            </a:xfrm>
            <a:custGeom>
              <a:avLst/>
              <a:gdLst/>
              <a:ahLst/>
              <a:cxnLst/>
              <a:rect l="l" t="t" r="r" b="b"/>
              <a:pathLst>
                <a:path w="19996593" h="10454476">
                  <a:moveTo>
                    <a:pt x="19903884" y="10454476"/>
                  </a:moveTo>
                  <a:lnTo>
                    <a:pt x="92710" y="10454476"/>
                  </a:lnTo>
                  <a:cubicBezTo>
                    <a:pt x="41910" y="10454476"/>
                    <a:pt x="0" y="10412566"/>
                    <a:pt x="0" y="1036176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9902615" y="0"/>
                  </a:lnTo>
                  <a:cubicBezTo>
                    <a:pt x="19953415" y="0"/>
                    <a:pt x="19995324" y="41910"/>
                    <a:pt x="19995324" y="92710"/>
                  </a:cubicBezTo>
                  <a:lnTo>
                    <a:pt x="19995324" y="10360496"/>
                  </a:lnTo>
                  <a:cubicBezTo>
                    <a:pt x="19996593" y="10412566"/>
                    <a:pt x="19954684" y="10454476"/>
                    <a:pt x="19903884" y="104544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0060093" cy="10517977"/>
            </a:xfrm>
            <a:custGeom>
              <a:avLst/>
              <a:gdLst/>
              <a:ahLst/>
              <a:cxnLst/>
              <a:rect l="l" t="t" r="r" b="b"/>
              <a:pathLst>
                <a:path w="20060093" h="10517977">
                  <a:moveTo>
                    <a:pt x="19935634" y="59690"/>
                  </a:moveTo>
                  <a:cubicBezTo>
                    <a:pt x="19971193" y="59690"/>
                    <a:pt x="20000404" y="88900"/>
                    <a:pt x="20000404" y="124460"/>
                  </a:cubicBezTo>
                  <a:lnTo>
                    <a:pt x="20000404" y="10393517"/>
                  </a:lnTo>
                  <a:cubicBezTo>
                    <a:pt x="20000404" y="10429077"/>
                    <a:pt x="19971193" y="10458286"/>
                    <a:pt x="19935634" y="10458286"/>
                  </a:cubicBezTo>
                  <a:lnTo>
                    <a:pt x="124460" y="10458286"/>
                  </a:lnTo>
                  <a:cubicBezTo>
                    <a:pt x="88900" y="10458286"/>
                    <a:pt x="59690" y="10429077"/>
                    <a:pt x="59690" y="103935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9935634" y="59690"/>
                  </a:lnTo>
                  <a:moveTo>
                    <a:pt x="1993563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393517"/>
                  </a:lnTo>
                  <a:cubicBezTo>
                    <a:pt x="0" y="10462096"/>
                    <a:pt x="55880" y="10517977"/>
                    <a:pt x="124460" y="10517977"/>
                  </a:cubicBezTo>
                  <a:lnTo>
                    <a:pt x="19935634" y="10517977"/>
                  </a:lnTo>
                  <a:cubicBezTo>
                    <a:pt x="20004215" y="10517977"/>
                    <a:pt x="20060093" y="10462096"/>
                    <a:pt x="20060093" y="10393517"/>
                  </a:cubicBezTo>
                  <a:lnTo>
                    <a:pt x="20060093" y="124460"/>
                  </a:lnTo>
                  <a:cubicBezTo>
                    <a:pt x="20060093" y="55880"/>
                    <a:pt x="20004215" y="0"/>
                    <a:pt x="19935634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16072485" y="1618615"/>
            <a:ext cx="742950" cy="307340"/>
            <a:chOff x="0" y="0"/>
            <a:chExt cx="1382576" cy="601949"/>
          </a:xfrm>
        </p:grpSpPr>
        <p:grpSp>
          <p:nvGrpSpPr>
            <p:cNvPr id="12" name="Group 12"/>
            <p:cNvGrpSpPr/>
            <p:nvPr/>
          </p:nvGrpSpPr>
          <p:grpSpPr>
            <a:xfrm rot="0">
              <a:off x="0" y="0"/>
              <a:ext cx="601949" cy="601949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780627" y="0"/>
              <a:ext cx="601949" cy="601949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8" name="AutoShape 18"/>
          <p:cNvSpPr/>
          <p:nvPr/>
        </p:nvSpPr>
        <p:spPr>
          <a:xfrm>
            <a:off x="773407" y="2287330"/>
            <a:ext cx="16674396" cy="5625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9"/>
          <p:cNvGrpSpPr/>
          <p:nvPr/>
        </p:nvGrpSpPr>
        <p:grpSpPr>
          <a:xfrm rot="0">
            <a:off x="3819352" y="9611247"/>
            <a:ext cx="579510" cy="490077"/>
            <a:chOff x="0" y="0"/>
            <a:chExt cx="812800" cy="68736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687365"/>
            </a:xfrm>
            <a:custGeom>
              <a:avLst/>
              <a:gdLst/>
              <a:ahLst/>
              <a:cxnLst/>
              <a:rect l="l" t="t" r="r" b="b"/>
              <a:pathLst>
                <a:path w="812800" h="687365">
                  <a:moveTo>
                    <a:pt x="406400" y="0"/>
                  </a:moveTo>
                  <a:cubicBezTo>
                    <a:pt x="181951" y="0"/>
                    <a:pt x="0" y="153872"/>
                    <a:pt x="0" y="343683"/>
                  </a:cubicBezTo>
                  <a:cubicBezTo>
                    <a:pt x="0" y="533493"/>
                    <a:pt x="181951" y="687365"/>
                    <a:pt x="406400" y="687365"/>
                  </a:cubicBezTo>
                  <a:cubicBezTo>
                    <a:pt x="630849" y="687365"/>
                    <a:pt x="812800" y="533493"/>
                    <a:pt x="812800" y="343683"/>
                  </a:cubicBezTo>
                  <a:cubicBezTo>
                    <a:pt x="812800" y="15387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6815"/>
              <a:ext cx="660400" cy="606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2" name="Group 22"/>
          <p:cNvGrpSpPr/>
          <p:nvPr/>
        </p:nvGrpSpPr>
        <p:grpSpPr>
          <a:xfrm rot="-10106257">
            <a:off x="4857745" y="690402"/>
            <a:ext cx="676596" cy="6765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283330" y="9121169"/>
            <a:ext cx="980155" cy="980155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17259300" y="5984349"/>
            <a:ext cx="705891" cy="705891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28700" y="2476500"/>
            <a:ext cx="8376920" cy="878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55"/>
              </a:lnSpc>
              <a:spcBef>
                <a:spcPct val="0"/>
              </a:spcBef>
            </a:pPr>
            <a:r>
              <a:rPr lang="en-US" sz="77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Used Libraries (Python)</a:t>
            </a:r>
            <a:endParaRPr lang="en-US" sz="77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36907" y="3277899"/>
            <a:ext cx="10658383" cy="60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3745" lvl="1" indent="-376555" algn="l">
              <a:lnSpc>
                <a:spcPts val="4885"/>
              </a:lnSpc>
              <a:buFont typeface="Arial" panose="020B0604020202020204"/>
              <a:buChar char="•"/>
            </a:pPr>
            <a:r>
              <a:rPr lang="en-US" sz="349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Pandas : Data Loading &amp; Manipulation</a:t>
            </a:r>
            <a:endParaRPr lang="en-US" sz="349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36907" y="3812921"/>
            <a:ext cx="10658383" cy="60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3745" lvl="1" indent="-376555" algn="l">
              <a:lnSpc>
                <a:spcPts val="488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49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Streamlit: Interactive Web App Library</a:t>
            </a:r>
            <a:endParaRPr lang="en-US" sz="349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36907" y="4343400"/>
            <a:ext cx="16422393" cy="1225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3745" lvl="1" indent="-376555" algn="l">
              <a:lnSpc>
                <a:spcPts val="4885"/>
              </a:lnSpc>
              <a:buFont typeface="Arial" panose="020B0604020202020204"/>
              <a:buChar char="•"/>
            </a:pPr>
            <a:r>
              <a:rPr lang="en-US" sz="349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Matplotlib :Used in Python to generate clear, publication-quality visualizations—such as bar charts of sentiment counts</a:t>
            </a:r>
            <a:endParaRPr lang="en-US" sz="349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36907" y="5558057"/>
            <a:ext cx="16784863" cy="60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3745" lvl="1" indent="-376555" algn="l">
              <a:lnSpc>
                <a:spcPts val="4885"/>
              </a:lnSpc>
              <a:buFont typeface="Arial" panose="020B0604020202020204"/>
              <a:buChar char="•"/>
            </a:pPr>
            <a:r>
              <a:rPr lang="en-US" sz="349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Seaborn: for data visualization</a:t>
            </a:r>
            <a:endParaRPr lang="en-US" sz="349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836907" y="6088536"/>
            <a:ext cx="16784863" cy="1225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3745" lvl="1" indent="-376555" algn="l">
              <a:lnSpc>
                <a:spcPts val="4885"/>
              </a:lnSpc>
              <a:buFont typeface="Arial" panose="020B0604020202020204"/>
              <a:buChar char="•"/>
            </a:pPr>
            <a:r>
              <a:rPr lang="en-US" sz="349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regex: Enables pattern-based text cleaning—quickly strip out URLs, mentions, hashtags, and unwanted characters to prepare tweets for feature extraction.</a:t>
            </a:r>
            <a:endParaRPr lang="en-US" sz="349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836907" y="7254703"/>
            <a:ext cx="16784863" cy="1225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3745" lvl="1" indent="-376555" algn="l">
              <a:lnSpc>
                <a:spcPts val="4885"/>
              </a:lnSpc>
              <a:buFont typeface="Arial" panose="020B0604020202020204"/>
              <a:buChar char="•"/>
            </a:pPr>
            <a:r>
              <a:rPr lang="en-US" sz="349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Sklearn: Provides the LogisticRegression estimator and tools like Pipeline, TfidfVectorizer, and train_test_split </a:t>
            </a:r>
            <a:endParaRPr lang="en-US" sz="349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840197" y="8470982"/>
            <a:ext cx="16419103" cy="60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3745" lvl="1" indent="-376555" algn="l">
              <a:lnSpc>
                <a:spcPts val="4885"/>
              </a:lnSpc>
              <a:buFont typeface="Arial" panose="020B0604020202020204"/>
              <a:buChar char="•"/>
            </a:pPr>
            <a:r>
              <a:rPr lang="en-US" sz="349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wordcloud: Visualizing word frequencies as a cloud of words</a:t>
            </a:r>
            <a:endParaRPr lang="en-US" sz="349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166117" y="7831201"/>
            <a:ext cx="2241710" cy="22417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238535" y="238535"/>
            <a:ext cx="2648308" cy="264830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923378" y="1617613"/>
            <a:ext cx="14441095" cy="8085933"/>
            <a:chOff x="0" y="0"/>
            <a:chExt cx="18758712" cy="10503475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18695212" cy="10439975"/>
            </a:xfrm>
            <a:custGeom>
              <a:avLst/>
              <a:gdLst/>
              <a:ahLst/>
              <a:cxnLst/>
              <a:rect l="l" t="t" r="r" b="b"/>
              <a:pathLst>
                <a:path w="18695212" h="10439975">
                  <a:moveTo>
                    <a:pt x="18602502" y="10439975"/>
                  </a:moveTo>
                  <a:lnTo>
                    <a:pt x="92710" y="10439975"/>
                  </a:lnTo>
                  <a:cubicBezTo>
                    <a:pt x="41910" y="10439975"/>
                    <a:pt x="0" y="10398065"/>
                    <a:pt x="0" y="1034726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8601232" y="0"/>
                  </a:lnTo>
                  <a:cubicBezTo>
                    <a:pt x="18652032" y="0"/>
                    <a:pt x="18693943" y="41910"/>
                    <a:pt x="18693943" y="92710"/>
                  </a:cubicBezTo>
                  <a:lnTo>
                    <a:pt x="18693943" y="10345996"/>
                  </a:lnTo>
                  <a:cubicBezTo>
                    <a:pt x="18695212" y="10398065"/>
                    <a:pt x="18653302" y="10439975"/>
                    <a:pt x="18602502" y="104399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8758712" cy="10503475"/>
            </a:xfrm>
            <a:custGeom>
              <a:avLst/>
              <a:gdLst/>
              <a:ahLst/>
              <a:cxnLst/>
              <a:rect l="l" t="t" r="r" b="b"/>
              <a:pathLst>
                <a:path w="18758712" h="10503475">
                  <a:moveTo>
                    <a:pt x="18634252" y="59690"/>
                  </a:moveTo>
                  <a:cubicBezTo>
                    <a:pt x="18669812" y="59690"/>
                    <a:pt x="18699021" y="88900"/>
                    <a:pt x="18699021" y="124460"/>
                  </a:cubicBezTo>
                  <a:lnTo>
                    <a:pt x="18699021" y="10379015"/>
                  </a:lnTo>
                  <a:cubicBezTo>
                    <a:pt x="18699021" y="10414575"/>
                    <a:pt x="18669812" y="10443785"/>
                    <a:pt x="18634252" y="10443785"/>
                  </a:cubicBezTo>
                  <a:lnTo>
                    <a:pt x="124460" y="10443785"/>
                  </a:lnTo>
                  <a:cubicBezTo>
                    <a:pt x="88900" y="10443785"/>
                    <a:pt x="59690" y="10414575"/>
                    <a:pt x="59690" y="1037901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8634252" y="59690"/>
                  </a:lnTo>
                  <a:moveTo>
                    <a:pt x="18634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379015"/>
                  </a:lnTo>
                  <a:cubicBezTo>
                    <a:pt x="0" y="10447596"/>
                    <a:pt x="55880" y="10503475"/>
                    <a:pt x="124460" y="10503475"/>
                  </a:cubicBezTo>
                  <a:lnTo>
                    <a:pt x="18634252" y="10503475"/>
                  </a:lnTo>
                  <a:cubicBezTo>
                    <a:pt x="18702832" y="10503475"/>
                    <a:pt x="18758712" y="10447596"/>
                    <a:pt x="18758712" y="10379015"/>
                  </a:cubicBezTo>
                  <a:lnTo>
                    <a:pt x="18758712" y="124460"/>
                  </a:lnTo>
                  <a:cubicBezTo>
                    <a:pt x="18758712" y="55880"/>
                    <a:pt x="18702832" y="0"/>
                    <a:pt x="1863425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15005976" y="2015000"/>
            <a:ext cx="737438" cy="321067"/>
            <a:chOff x="0" y="0"/>
            <a:chExt cx="983250" cy="428090"/>
          </a:xfrm>
        </p:grpSpPr>
        <p:grpSp>
          <p:nvGrpSpPr>
            <p:cNvPr id="12" name="Group 12"/>
            <p:cNvGrpSpPr/>
            <p:nvPr/>
          </p:nvGrpSpPr>
          <p:grpSpPr>
            <a:xfrm rot="0">
              <a:off x="0" y="0"/>
              <a:ext cx="428090" cy="428090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555160" y="0"/>
              <a:ext cx="428090" cy="428090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8" name="AutoShape 18"/>
          <p:cNvSpPr/>
          <p:nvPr/>
        </p:nvSpPr>
        <p:spPr>
          <a:xfrm>
            <a:off x="1923418" y="2612293"/>
            <a:ext cx="14441095" cy="2381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9"/>
          <p:cNvGrpSpPr/>
          <p:nvPr/>
        </p:nvGrpSpPr>
        <p:grpSpPr>
          <a:xfrm rot="0">
            <a:off x="3373431" y="9049049"/>
            <a:ext cx="1023862" cy="1023862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2" name="Group 22"/>
          <p:cNvGrpSpPr/>
          <p:nvPr/>
        </p:nvGrpSpPr>
        <p:grpSpPr>
          <a:xfrm rot="-10106257">
            <a:off x="4857745" y="690402"/>
            <a:ext cx="676596" cy="6765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389448" y="7635227"/>
            <a:ext cx="2068319" cy="2068319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16906354" y="5984349"/>
            <a:ext cx="705891" cy="705891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923378" y="4031704"/>
            <a:ext cx="8789660" cy="60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3745" lvl="1" indent="-376555" algn="l">
              <a:lnSpc>
                <a:spcPts val="4885"/>
              </a:lnSpc>
              <a:buFont typeface="Arial" panose="020B0604020202020204"/>
              <a:buChar char="•"/>
            </a:pPr>
            <a:r>
              <a:rPr lang="en-US" sz="3490">
                <a:solidFill>
                  <a:srgbClr val="000000"/>
                </a:solidFill>
                <a:latin typeface="Asap Condensed" panose="020F0506030202060203"/>
                <a:ea typeface="Asap Condensed" panose="020F0506030202060203"/>
                <a:cs typeface="Asap Condensed" panose="020F0506030202060203"/>
                <a:sym typeface="Asap Condensed" panose="020F0506030202060203"/>
              </a:rPr>
              <a:t>tidyverse : Data manipulation(dplyr,ggplot)</a:t>
            </a:r>
            <a:endParaRPr lang="en-US" sz="3490">
              <a:solidFill>
                <a:srgbClr val="000000"/>
              </a:solidFill>
              <a:latin typeface="Asap Condensed" panose="020F0506030202060203"/>
              <a:ea typeface="Asap Condensed" panose="020F0506030202060203"/>
              <a:cs typeface="Asap Condensed" panose="020F0506030202060203"/>
              <a:sym typeface="Asap Condensed" panose="020F0506030202060203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980681" y="2646135"/>
            <a:ext cx="9373195" cy="131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80"/>
              </a:lnSpc>
              <a:spcBef>
                <a:spcPct val="0"/>
              </a:spcBef>
            </a:pPr>
            <a:r>
              <a:rPr lang="en-US" sz="7700" b="1">
                <a:solidFill>
                  <a:srgbClr val="000000"/>
                </a:solidFill>
                <a:latin typeface="29LT Adir Bold" panose="00000806000000000000"/>
                <a:ea typeface="29LT Adir Bold" panose="00000806000000000000"/>
                <a:cs typeface="29LT Adir Bold" panose="00000806000000000000"/>
                <a:sym typeface="29LT Adir Bold" panose="00000806000000000000"/>
              </a:rPr>
              <a:t>Used Libraries (R)</a:t>
            </a:r>
            <a:endParaRPr lang="en-US" sz="7700" b="1">
              <a:solidFill>
                <a:srgbClr val="000000"/>
              </a:solidFill>
              <a:latin typeface="29LT Adir Bold" panose="00000806000000000000"/>
              <a:ea typeface="29LT Adir Bold" panose="00000806000000000000"/>
              <a:cs typeface="29LT Adir Bold" panose="00000806000000000000"/>
              <a:sym typeface="29LT Adir Bold" panose="00000806000000000000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923378" y="4705058"/>
            <a:ext cx="6374725" cy="60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3745" lvl="1" indent="-376555" algn="l">
              <a:lnSpc>
                <a:spcPts val="4885"/>
              </a:lnSpc>
              <a:buFont typeface="Arial" panose="020B0604020202020204"/>
              <a:buChar char="•"/>
            </a:pPr>
            <a:r>
              <a:rPr lang="en-US" sz="349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caret: Model Training and evaluation</a:t>
            </a:r>
            <a:endParaRPr lang="en-US" sz="349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923457" y="5530812"/>
            <a:ext cx="14441095" cy="1844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3745" lvl="1" indent="-376555" algn="l">
              <a:lnSpc>
                <a:spcPts val="4885"/>
              </a:lnSpc>
              <a:buFont typeface="Arial" panose="020B0604020202020204"/>
              <a:buChar char="•"/>
            </a:pPr>
            <a:r>
              <a:rPr lang="en-US" sz="349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glmnet: Fits elastic-net regularized logistic regression on your cleaned text features to detect sentiment, balancing L1/L2 penalties for feature selection and preventing overfitting.</a:t>
            </a:r>
            <a:endParaRPr lang="en-US" sz="349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980681" y="7416470"/>
            <a:ext cx="14441095" cy="60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3745" lvl="1" indent="-376555" algn="l">
              <a:lnSpc>
                <a:spcPts val="4885"/>
              </a:lnSpc>
              <a:buFont typeface="Arial" panose="020B0604020202020204"/>
              <a:buChar char="•"/>
            </a:pPr>
            <a:r>
              <a:rPr lang="en-US" sz="349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Matrix: Sparse Matrix handling</a:t>
            </a:r>
            <a:endParaRPr lang="en-US" sz="349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A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161152"/>
            <a:ext cx="16230600" cy="8229600"/>
            <a:chOff x="0" y="0"/>
            <a:chExt cx="21083246" cy="10690097"/>
          </a:xfrm>
        </p:grpSpPr>
        <p:sp>
          <p:nvSpPr>
            <p:cNvPr id="3" name="Freeform 3"/>
            <p:cNvSpPr/>
            <p:nvPr/>
          </p:nvSpPr>
          <p:spPr>
            <a:xfrm>
              <a:off x="31750" y="31750"/>
              <a:ext cx="21019746" cy="10626596"/>
            </a:xfrm>
            <a:custGeom>
              <a:avLst/>
              <a:gdLst/>
              <a:ahLst/>
              <a:cxnLst/>
              <a:rect l="l" t="t" r="r" b="b"/>
              <a:pathLst>
                <a:path w="21019746" h="10626596">
                  <a:moveTo>
                    <a:pt x="20927036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0925766" y="0"/>
                  </a:lnTo>
                  <a:cubicBezTo>
                    <a:pt x="20976566" y="0"/>
                    <a:pt x="21018477" y="41910"/>
                    <a:pt x="21018477" y="92710"/>
                  </a:cubicBezTo>
                  <a:lnTo>
                    <a:pt x="21018477" y="10532617"/>
                  </a:lnTo>
                  <a:cubicBezTo>
                    <a:pt x="21019746" y="10584686"/>
                    <a:pt x="20977836" y="10626596"/>
                    <a:pt x="20927036" y="106265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1083246" cy="10690096"/>
            </a:xfrm>
            <a:custGeom>
              <a:avLst/>
              <a:gdLst/>
              <a:ahLst/>
              <a:cxnLst/>
              <a:rect l="l" t="t" r="r" b="b"/>
              <a:pathLst>
                <a:path w="21083246" h="10690096">
                  <a:moveTo>
                    <a:pt x="20958786" y="59690"/>
                  </a:moveTo>
                  <a:cubicBezTo>
                    <a:pt x="20994346" y="59690"/>
                    <a:pt x="21023556" y="88900"/>
                    <a:pt x="21023556" y="124460"/>
                  </a:cubicBezTo>
                  <a:lnTo>
                    <a:pt x="21023556" y="10565636"/>
                  </a:lnTo>
                  <a:cubicBezTo>
                    <a:pt x="21023556" y="10601196"/>
                    <a:pt x="20994346" y="10630406"/>
                    <a:pt x="20958786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0958786" y="59690"/>
                  </a:lnTo>
                  <a:moveTo>
                    <a:pt x="2095878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20958786" y="10690096"/>
                  </a:lnTo>
                  <a:cubicBezTo>
                    <a:pt x="21027366" y="10690096"/>
                    <a:pt x="21083246" y="10634217"/>
                    <a:pt x="21083246" y="10565636"/>
                  </a:cubicBezTo>
                  <a:lnTo>
                    <a:pt x="21083246" y="124460"/>
                  </a:lnTo>
                  <a:cubicBezTo>
                    <a:pt x="21083246" y="55880"/>
                    <a:pt x="21027366" y="0"/>
                    <a:pt x="20958786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id="5" name="Group 5"/>
          <p:cNvGrpSpPr/>
          <p:nvPr/>
        </p:nvGrpSpPr>
        <p:grpSpPr>
          <a:xfrm rot="0">
            <a:off x="15810540" y="1316799"/>
            <a:ext cx="1066685" cy="464416"/>
            <a:chOff x="0" y="0"/>
            <a:chExt cx="1422246" cy="619221"/>
          </a:xfrm>
        </p:grpSpPr>
        <p:grpSp>
          <p:nvGrpSpPr>
            <p:cNvPr id="6" name="Group 6"/>
            <p:cNvGrpSpPr/>
            <p:nvPr/>
          </p:nvGrpSpPr>
          <p:grpSpPr>
            <a:xfrm rot="0">
              <a:off x="0" y="0"/>
              <a:ext cx="619221" cy="61922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803025" y="0"/>
              <a:ext cx="619221" cy="619221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3" name="AutoShape 13"/>
          <p:cNvSpPr/>
          <p:nvPr/>
        </p:nvSpPr>
        <p:spPr>
          <a:xfrm>
            <a:off x="1028700" y="2029334"/>
            <a:ext cx="16230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7"/>
          <p:cNvSpPr txBox="1"/>
          <p:nvPr/>
        </p:nvSpPr>
        <p:spPr>
          <a:xfrm>
            <a:off x="1676400" y="4838700"/>
            <a:ext cx="13722350" cy="173101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marL="377190" lvl="1" indent="0" algn="ctr">
              <a:lnSpc>
                <a:spcPts val="4885"/>
              </a:lnSpc>
              <a:buFont typeface="Arial" panose="020B0604020202020204"/>
              <a:buNone/>
            </a:pPr>
            <a:r>
              <a:rPr lang="en-GB" altLang="en-US" sz="100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PYTHON</a:t>
            </a:r>
            <a:endParaRPr lang="en-GB" altLang="en-US" sz="100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  <p:pic>
        <p:nvPicPr>
          <p:cNvPr id="19" name="Picture 18" descr="The Python Tutori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1223010"/>
            <a:ext cx="749300" cy="7435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04505" y="382412"/>
            <a:ext cx="2896113" cy="289611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923378" y="1617613"/>
            <a:ext cx="14441095" cy="7051773"/>
            <a:chOff x="0" y="0"/>
            <a:chExt cx="18758712" cy="9160122"/>
          </a:xfrm>
        </p:grpSpPr>
        <p:sp>
          <p:nvSpPr>
            <p:cNvPr id="6" name="Freeform 6"/>
            <p:cNvSpPr/>
            <p:nvPr/>
          </p:nvSpPr>
          <p:spPr>
            <a:xfrm>
              <a:off x="31750" y="31750"/>
              <a:ext cx="18695212" cy="9096621"/>
            </a:xfrm>
            <a:custGeom>
              <a:avLst/>
              <a:gdLst/>
              <a:ahLst/>
              <a:cxnLst/>
              <a:rect l="l" t="t" r="r" b="b"/>
              <a:pathLst>
                <a:path w="18695212" h="9096621">
                  <a:moveTo>
                    <a:pt x="18602502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8601232" y="0"/>
                  </a:lnTo>
                  <a:cubicBezTo>
                    <a:pt x="18652032" y="0"/>
                    <a:pt x="18693943" y="41910"/>
                    <a:pt x="18693943" y="92710"/>
                  </a:cubicBezTo>
                  <a:lnTo>
                    <a:pt x="18693943" y="9002642"/>
                  </a:lnTo>
                  <a:cubicBezTo>
                    <a:pt x="18695212" y="9054712"/>
                    <a:pt x="18653302" y="9096621"/>
                    <a:pt x="18602502" y="909662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8758712" cy="9160121"/>
            </a:xfrm>
            <a:custGeom>
              <a:avLst/>
              <a:gdLst/>
              <a:ahLst/>
              <a:cxnLst/>
              <a:rect l="l" t="t" r="r" b="b"/>
              <a:pathLst>
                <a:path w="18758712" h="9160121">
                  <a:moveTo>
                    <a:pt x="18634252" y="59690"/>
                  </a:moveTo>
                  <a:cubicBezTo>
                    <a:pt x="18669812" y="59690"/>
                    <a:pt x="18699021" y="88900"/>
                    <a:pt x="18699021" y="124460"/>
                  </a:cubicBezTo>
                  <a:lnTo>
                    <a:pt x="18699021" y="9035662"/>
                  </a:lnTo>
                  <a:cubicBezTo>
                    <a:pt x="18699021" y="9071221"/>
                    <a:pt x="18669812" y="9100431"/>
                    <a:pt x="18634252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8634252" y="59690"/>
                  </a:lnTo>
                  <a:moveTo>
                    <a:pt x="18634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18634252" y="9160121"/>
                  </a:lnTo>
                  <a:cubicBezTo>
                    <a:pt x="18702832" y="9160121"/>
                    <a:pt x="18758712" y="9104242"/>
                    <a:pt x="18758712" y="9035662"/>
                  </a:cubicBezTo>
                  <a:lnTo>
                    <a:pt x="18758712" y="124460"/>
                  </a:lnTo>
                  <a:cubicBezTo>
                    <a:pt x="18758712" y="55880"/>
                    <a:pt x="18702832" y="0"/>
                    <a:pt x="1863425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id="8" name="Group 8"/>
          <p:cNvGrpSpPr/>
          <p:nvPr/>
        </p:nvGrpSpPr>
        <p:grpSpPr>
          <a:xfrm rot="0">
            <a:off x="14905615" y="2015000"/>
            <a:ext cx="837799" cy="364763"/>
            <a:chOff x="0" y="0"/>
            <a:chExt cx="1117065" cy="486350"/>
          </a:xfrm>
        </p:grpSpPr>
        <p:grpSp>
          <p:nvGrpSpPr>
            <p:cNvPr id="9" name="Group 9"/>
            <p:cNvGrpSpPr/>
            <p:nvPr/>
          </p:nvGrpSpPr>
          <p:grpSpPr>
            <a:xfrm rot="0">
              <a:off x="0" y="0"/>
              <a:ext cx="486350" cy="48635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0">
              <a:off x="630714" y="0"/>
              <a:ext cx="486350" cy="486350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5" name="AutoShape 15"/>
          <p:cNvSpPr/>
          <p:nvPr/>
        </p:nvSpPr>
        <p:spPr>
          <a:xfrm>
            <a:off x="1856743" y="2612293"/>
            <a:ext cx="14441095" cy="2381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 rot="0">
            <a:off x="1028700" y="3912925"/>
            <a:ext cx="1023862" cy="1023862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 rot="-10106257">
            <a:off x="15429887" y="7635812"/>
            <a:ext cx="2067149" cy="2067149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AFE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2" name="Group 22"/>
          <p:cNvGrpSpPr/>
          <p:nvPr/>
        </p:nvGrpSpPr>
        <p:grpSpPr>
          <a:xfrm rot="-10106257">
            <a:off x="4466603" y="797339"/>
            <a:ext cx="462723" cy="462723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2052562" y="2459893"/>
            <a:ext cx="7663980" cy="131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80"/>
              </a:lnSpc>
              <a:spcBef>
                <a:spcPct val="0"/>
              </a:spcBef>
            </a:pPr>
            <a:r>
              <a:rPr lang="en-US" sz="77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Python-Load data</a:t>
            </a:r>
            <a:endParaRPr lang="en-US" sz="77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950964" y="3619817"/>
            <a:ext cx="11954651" cy="376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def load_data():</a:t>
            </a:r>
            <a:endParaRPr lang="en-US" sz="21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    df = pd.read_csv("C:/Users/abdul/Downloads/training.1600000.processed.noemoticon.csv", </a:t>
            </a:r>
            <a:endParaRPr lang="en-US" sz="21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                     encoding='latin-1', </a:t>
            </a:r>
            <a:endParaRPr lang="en-US" sz="21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                     names=['target', 'id', 'date', 'flag', 'user', 'text'])</a:t>
            </a:r>
            <a:endParaRPr lang="en-US" sz="21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    df = df[['target', 'text']]</a:t>
            </a:r>
            <a:endParaRPr lang="en-US" sz="21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    df = df.sample(10000, random_state=42)</a:t>
            </a:r>
            <a:endParaRPr lang="en-US" sz="21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    return df</a:t>
            </a:r>
            <a:endParaRPr lang="en-US" sz="21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2660"/>
              </a:lnSpc>
              <a:spcBef>
                <a:spcPct val="0"/>
              </a:spcBef>
            </a:pP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Explaination:Reads the Sentiment140 dataset, selects relevant columns (target and text), and samples 10,000 tweets to reduce computation time.</a:t>
            </a:r>
            <a:endParaRPr lang="en-US" sz="24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3657666" y="8669387"/>
            <a:ext cx="1902670" cy="1474741"/>
            <a:chOff x="0" y="0"/>
            <a:chExt cx="812800" cy="6299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629993"/>
            </a:xfrm>
            <a:custGeom>
              <a:avLst/>
              <a:gdLst/>
              <a:ahLst/>
              <a:cxnLst/>
              <a:rect l="l" t="t" r="r" b="b"/>
              <a:pathLst>
                <a:path w="812800" h="629993">
                  <a:moveTo>
                    <a:pt x="406400" y="0"/>
                  </a:moveTo>
                  <a:cubicBezTo>
                    <a:pt x="181951" y="0"/>
                    <a:pt x="0" y="141029"/>
                    <a:pt x="0" y="314997"/>
                  </a:cubicBezTo>
                  <a:cubicBezTo>
                    <a:pt x="0" y="488964"/>
                    <a:pt x="181951" y="629993"/>
                    <a:pt x="406400" y="629993"/>
                  </a:cubicBezTo>
                  <a:cubicBezTo>
                    <a:pt x="630849" y="629993"/>
                    <a:pt x="812800" y="488964"/>
                    <a:pt x="812800" y="314997"/>
                  </a:cubicBezTo>
                  <a:cubicBezTo>
                    <a:pt x="812800" y="14102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1437"/>
              <a:ext cx="660400" cy="559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302954" y="426002"/>
            <a:ext cx="3363512" cy="336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5243697" y="7319270"/>
            <a:ext cx="2241710" cy="224171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1923378" y="1617613"/>
            <a:ext cx="14441095" cy="7051773"/>
            <a:chOff x="0" y="0"/>
            <a:chExt cx="18758712" cy="9160122"/>
          </a:xfrm>
        </p:grpSpPr>
        <p:sp>
          <p:nvSpPr>
            <p:cNvPr id="12" name="Freeform 12"/>
            <p:cNvSpPr/>
            <p:nvPr/>
          </p:nvSpPr>
          <p:spPr>
            <a:xfrm>
              <a:off x="31750" y="31750"/>
              <a:ext cx="18695212" cy="9096621"/>
            </a:xfrm>
            <a:custGeom>
              <a:avLst/>
              <a:gdLst/>
              <a:ahLst/>
              <a:cxnLst/>
              <a:rect l="l" t="t" r="r" b="b"/>
              <a:pathLst>
                <a:path w="18695212" h="9096621">
                  <a:moveTo>
                    <a:pt x="18602502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8601232" y="0"/>
                  </a:lnTo>
                  <a:cubicBezTo>
                    <a:pt x="18652032" y="0"/>
                    <a:pt x="18693943" y="41910"/>
                    <a:pt x="18693943" y="92710"/>
                  </a:cubicBezTo>
                  <a:lnTo>
                    <a:pt x="18693943" y="9002642"/>
                  </a:lnTo>
                  <a:cubicBezTo>
                    <a:pt x="18695212" y="9054712"/>
                    <a:pt x="18653302" y="9096621"/>
                    <a:pt x="18602502" y="909662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18758712" cy="9160121"/>
            </a:xfrm>
            <a:custGeom>
              <a:avLst/>
              <a:gdLst/>
              <a:ahLst/>
              <a:cxnLst/>
              <a:rect l="l" t="t" r="r" b="b"/>
              <a:pathLst>
                <a:path w="18758712" h="9160121">
                  <a:moveTo>
                    <a:pt x="18634252" y="59690"/>
                  </a:moveTo>
                  <a:cubicBezTo>
                    <a:pt x="18669812" y="59690"/>
                    <a:pt x="18699021" y="88900"/>
                    <a:pt x="18699021" y="124460"/>
                  </a:cubicBezTo>
                  <a:lnTo>
                    <a:pt x="18699021" y="9035662"/>
                  </a:lnTo>
                  <a:cubicBezTo>
                    <a:pt x="18699021" y="9071221"/>
                    <a:pt x="18669812" y="9100431"/>
                    <a:pt x="18634252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8634252" y="59690"/>
                  </a:lnTo>
                  <a:moveTo>
                    <a:pt x="18634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18634252" y="9160121"/>
                  </a:lnTo>
                  <a:cubicBezTo>
                    <a:pt x="18702832" y="9160121"/>
                    <a:pt x="18758712" y="9104242"/>
                    <a:pt x="18758712" y="9035662"/>
                  </a:cubicBezTo>
                  <a:lnTo>
                    <a:pt x="18758712" y="124460"/>
                  </a:lnTo>
                  <a:cubicBezTo>
                    <a:pt x="18758712" y="55880"/>
                    <a:pt x="18702832" y="0"/>
                    <a:pt x="1863425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id="24" name="AutoShape 24"/>
          <p:cNvSpPr/>
          <p:nvPr/>
        </p:nvSpPr>
        <p:spPr>
          <a:xfrm>
            <a:off x="1923418" y="2612293"/>
            <a:ext cx="14441095" cy="2381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5" name="Group 25"/>
          <p:cNvGrpSpPr/>
          <p:nvPr/>
        </p:nvGrpSpPr>
        <p:grpSpPr>
          <a:xfrm rot="0">
            <a:off x="1444123" y="8190132"/>
            <a:ext cx="958510" cy="958510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-10106257">
            <a:off x="4503954" y="690402"/>
            <a:ext cx="676596" cy="676596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16812148" y="5874679"/>
            <a:ext cx="705891" cy="705891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984710" y="2483705"/>
            <a:ext cx="14441095" cy="131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80"/>
              </a:lnSpc>
              <a:spcBef>
                <a:spcPct val="0"/>
              </a:spcBef>
            </a:pPr>
            <a:r>
              <a:rPr lang="en-US" sz="77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Python-clean Text</a:t>
            </a:r>
            <a:endParaRPr lang="en-US" sz="77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2965944" y="3764499"/>
            <a:ext cx="11461906" cy="3662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def clean_text(text):</a:t>
            </a:r>
            <a:endParaRPr lang="en-US" sz="22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     text = re.sub(r"http\S+", "", text)</a:t>
            </a:r>
            <a:endParaRPr lang="en-US" sz="22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     text = re.sub(r"@\w+", "", text)</a:t>
            </a:r>
            <a:endParaRPr lang="en-US" sz="22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     text = re.sub(r"#\w+", "", text)</a:t>
            </a:r>
            <a:endParaRPr lang="en-US" sz="22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     text = re.sub(r"[^\w\s]", "", text)</a:t>
            </a:r>
            <a:endParaRPr lang="en-US" sz="22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     text = text.lower()</a:t>
            </a:r>
            <a:endParaRPr lang="en-US" sz="22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  return text</a:t>
            </a:r>
            <a:endParaRPr lang="en-US" sz="22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Explanation:Cleans the tweets by removing URLs, mentions, hashtags, punctuation, and converting text to lowercase for normalization.</a:t>
            </a:r>
            <a:endParaRPr lang="en-US" sz="27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  <p:grpSp>
        <p:nvGrpSpPr>
          <p:cNvPr id="36" name="Group 8"/>
          <p:cNvGrpSpPr/>
          <p:nvPr/>
        </p:nvGrpSpPr>
        <p:grpSpPr>
          <a:xfrm rot="0">
            <a:off x="14905615" y="2015000"/>
            <a:ext cx="837799" cy="364763"/>
            <a:chOff x="0" y="0"/>
            <a:chExt cx="1117065" cy="486350"/>
          </a:xfrm>
        </p:grpSpPr>
        <p:grpSp>
          <p:nvGrpSpPr>
            <p:cNvPr id="37" name="Group 9"/>
            <p:cNvGrpSpPr/>
            <p:nvPr/>
          </p:nvGrpSpPr>
          <p:grpSpPr>
            <a:xfrm rot="0">
              <a:off x="0" y="0"/>
              <a:ext cx="486350" cy="486350"/>
              <a:chOff x="0" y="0"/>
              <a:chExt cx="812800" cy="812800"/>
            </a:xfrm>
          </p:grpSpPr>
          <p:sp>
            <p:nvSpPr>
              <p:cNvPr id="38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39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0" name="Group 12"/>
            <p:cNvGrpSpPr/>
            <p:nvPr/>
          </p:nvGrpSpPr>
          <p:grpSpPr>
            <a:xfrm rot="0">
              <a:off x="630714" y="0"/>
              <a:ext cx="486350" cy="486350"/>
              <a:chOff x="0" y="0"/>
              <a:chExt cx="812800" cy="812800"/>
            </a:xfrm>
          </p:grpSpPr>
          <p:sp>
            <p:nvSpPr>
              <p:cNvPr id="41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42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243697" y="7319270"/>
            <a:ext cx="2241710" cy="22417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302954" y="426002"/>
            <a:ext cx="3363512" cy="336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923378" y="1617613"/>
            <a:ext cx="14441095" cy="7051773"/>
            <a:chOff x="0" y="0"/>
            <a:chExt cx="18758712" cy="9160122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18695212" cy="9096621"/>
            </a:xfrm>
            <a:custGeom>
              <a:avLst/>
              <a:gdLst/>
              <a:ahLst/>
              <a:cxnLst/>
              <a:rect l="l" t="t" r="r" b="b"/>
              <a:pathLst>
                <a:path w="18695212" h="9096621">
                  <a:moveTo>
                    <a:pt x="18602502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8601232" y="0"/>
                  </a:lnTo>
                  <a:cubicBezTo>
                    <a:pt x="18652032" y="0"/>
                    <a:pt x="18693943" y="41910"/>
                    <a:pt x="18693943" y="92710"/>
                  </a:cubicBezTo>
                  <a:lnTo>
                    <a:pt x="18693943" y="9002642"/>
                  </a:lnTo>
                  <a:cubicBezTo>
                    <a:pt x="18695212" y="9054712"/>
                    <a:pt x="18653302" y="9096621"/>
                    <a:pt x="18602502" y="909662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8758712" cy="9160121"/>
            </a:xfrm>
            <a:custGeom>
              <a:avLst/>
              <a:gdLst/>
              <a:ahLst/>
              <a:cxnLst/>
              <a:rect l="l" t="t" r="r" b="b"/>
              <a:pathLst>
                <a:path w="18758712" h="9160121">
                  <a:moveTo>
                    <a:pt x="18634252" y="59690"/>
                  </a:moveTo>
                  <a:cubicBezTo>
                    <a:pt x="18669812" y="59690"/>
                    <a:pt x="18699021" y="88900"/>
                    <a:pt x="18699021" y="124460"/>
                  </a:cubicBezTo>
                  <a:lnTo>
                    <a:pt x="18699021" y="9035662"/>
                  </a:lnTo>
                  <a:cubicBezTo>
                    <a:pt x="18699021" y="9071221"/>
                    <a:pt x="18669812" y="9100431"/>
                    <a:pt x="18634252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8634252" y="59690"/>
                  </a:lnTo>
                  <a:moveTo>
                    <a:pt x="18634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18634252" y="9160121"/>
                  </a:lnTo>
                  <a:cubicBezTo>
                    <a:pt x="18702832" y="9160121"/>
                    <a:pt x="18758712" y="9104242"/>
                    <a:pt x="18758712" y="9035662"/>
                  </a:cubicBezTo>
                  <a:lnTo>
                    <a:pt x="18758712" y="124460"/>
                  </a:lnTo>
                  <a:cubicBezTo>
                    <a:pt x="18758712" y="55880"/>
                    <a:pt x="18702832" y="0"/>
                    <a:pt x="1863425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id="21" name="AutoShape 21"/>
          <p:cNvSpPr/>
          <p:nvPr/>
        </p:nvSpPr>
        <p:spPr>
          <a:xfrm>
            <a:off x="1923418" y="2612293"/>
            <a:ext cx="14441095" cy="2381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 rot="-10106257">
            <a:off x="4503954" y="690402"/>
            <a:ext cx="676596" cy="6765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6812148" y="5874679"/>
            <a:ext cx="705891" cy="70589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2894133" y="8859887"/>
            <a:ext cx="1306637" cy="1158173"/>
            <a:chOff x="0" y="0"/>
            <a:chExt cx="558181" cy="4947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8181" cy="494759"/>
            </a:xfrm>
            <a:custGeom>
              <a:avLst/>
              <a:gdLst/>
              <a:ahLst/>
              <a:cxnLst/>
              <a:rect l="l" t="t" r="r" b="b"/>
              <a:pathLst>
                <a:path w="558181" h="494759">
                  <a:moveTo>
                    <a:pt x="279091" y="0"/>
                  </a:moveTo>
                  <a:cubicBezTo>
                    <a:pt x="124953" y="0"/>
                    <a:pt x="0" y="110756"/>
                    <a:pt x="0" y="247379"/>
                  </a:cubicBezTo>
                  <a:cubicBezTo>
                    <a:pt x="0" y="384003"/>
                    <a:pt x="124953" y="494759"/>
                    <a:pt x="279091" y="494759"/>
                  </a:cubicBezTo>
                  <a:cubicBezTo>
                    <a:pt x="433228" y="494759"/>
                    <a:pt x="558181" y="384003"/>
                    <a:pt x="558181" y="247379"/>
                  </a:cubicBezTo>
                  <a:cubicBezTo>
                    <a:pt x="558181" y="110756"/>
                    <a:pt x="433228" y="0"/>
                    <a:pt x="279091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52329" y="-1241"/>
              <a:ext cx="453522" cy="44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1444123" y="8190132"/>
            <a:ext cx="958510" cy="95851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984710" y="2483705"/>
            <a:ext cx="8745669" cy="131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80"/>
              </a:lnSpc>
              <a:spcBef>
                <a:spcPct val="0"/>
              </a:spcBef>
            </a:pPr>
            <a:r>
              <a:rPr lang="en-US" sz="77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python-wordCloud Plot</a:t>
            </a:r>
            <a:endParaRPr lang="en-US" sz="77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3103315" y="3764499"/>
            <a:ext cx="11485506" cy="436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def plot_wordcloud(texts, title):</a:t>
            </a:r>
            <a:endParaRPr lang="en-US" sz="22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    all_words = ' '.join(texts)</a:t>
            </a:r>
            <a:endParaRPr lang="en-US" sz="22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    wc = WordCloud(width=800, height=400, background_color='white', colormap='viridis').generate(all_words)</a:t>
            </a:r>
            <a:endParaRPr lang="en-US" sz="22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    fig, ax = plt.subplots(figsize=(10, 5))</a:t>
            </a:r>
            <a:endParaRPr lang="en-US" sz="22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    ax.imshow(wc, interpolation='bilinear')</a:t>
            </a:r>
            <a:endParaRPr lang="en-US" sz="22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    ax.axis('off')</a:t>
            </a:r>
            <a:endParaRPr lang="en-US" sz="22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    st.subheader(title)</a:t>
            </a:r>
            <a:endParaRPr lang="en-US" sz="22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   st.pyplot(fig)</a:t>
            </a:r>
            <a:endParaRPr lang="en-US" sz="22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   plt.close(fig)</a:t>
            </a:r>
            <a:endParaRPr lang="en-US" sz="22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Explanation:Generates a WordCloud image from tweet text. Used to visualize most frequent words in positive and negative tweets.</a:t>
            </a:r>
            <a:endParaRPr lang="en-US" sz="25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  <p:grpSp>
        <p:nvGrpSpPr>
          <p:cNvPr id="36" name="Group 8"/>
          <p:cNvGrpSpPr/>
          <p:nvPr/>
        </p:nvGrpSpPr>
        <p:grpSpPr>
          <a:xfrm rot="0">
            <a:off x="14905615" y="2015000"/>
            <a:ext cx="837799" cy="364763"/>
            <a:chOff x="0" y="0"/>
            <a:chExt cx="1117065" cy="486350"/>
          </a:xfrm>
        </p:grpSpPr>
        <p:grpSp>
          <p:nvGrpSpPr>
            <p:cNvPr id="37" name="Group 9"/>
            <p:cNvGrpSpPr/>
            <p:nvPr/>
          </p:nvGrpSpPr>
          <p:grpSpPr>
            <a:xfrm rot="0">
              <a:off x="0" y="0"/>
              <a:ext cx="486350" cy="486350"/>
              <a:chOff x="0" y="0"/>
              <a:chExt cx="812800" cy="812800"/>
            </a:xfrm>
          </p:grpSpPr>
          <p:sp>
            <p:nvSpPr>
              <p:cNvPr id="38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39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0" name="Group 12"/>
            <p:cNvGrpSpPr/>
            <p:nvPr/>
          </p:nvGrpSpPr>
          <p:grpSpPr>
            <a:xfrm rot="0">
              <a:off x="630714" y="0"/>
              <a:ext cx="486350" cy="486350"/>
              <a:chOff x="0" y="0"/>
              <a:chExt cx="812800" cy="812800"/>
            </a:xfrm>
          </p:grpSpPr>
          <p:sp>
            <p:nvSpPr>
              <p:cNvPr id="41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42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243697" y="7319270"/>
            <a:ext cx="2241710" cy="22417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302954" y="426002"/>
            <a:ext cx="3363512" cy="336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923378" y="1617613"/>
            <a:ext cx="14441095" cy="7051773"/>
            <a:chOff x="0" y="0"/>
            <a:chExt cx="18758712" cy="9160122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18695212" cy="9096621"/>
            </a:xfrm>
            <a:custGeom>
              <a:avLst/>
              <a:gdLst/>
              <a:ahLst/>
              <a:cxnLst/>
              <a:rect l="l" t="t" r="r" b="b"/>
              <a:pathLst>
                <a:path w="18695212" h="9096621">
                  <a:moveTo>
                    <a:pt x="18602502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8601232" y="0"/>
                  </a:lnTo>
                  <a:cubicBezTo>
                    <a:pt x="18652032" y="0"/>
                    <a:pt x="18693943" y="41910"/>
                    <a:pt x="18693943" y="92710"/>
                  </a:cubicBezTo>
                  <a:lnTo>
                    <a:pt x="18693943" y="9002642"/>
                  </a:lnTo>
                  <a:cubicBezTo>
                    <a:pt x="18695212" y="9054712"/>
                    <a:pt x="18653302" y="9096621"/>
                    <a:pt x="18602502" y="909662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8758712" cy="9160121"/>
            </a:xfrm>
            <a:custGeom>
              <a:avLst/>
              <a:gdLst/>
              <a:ahLst/>
              <a:cxnLst/>
              <a:rect l="l" t="t" r="r" b="b"/>
              <a:pathLst>
                <a:path w="18758712" h="9160121">
                  <a:moveTo>
                    <a:pt x="18634252" y="59690"/>
                  </a:moveTo>
                  <a:cubicBezTo>
                    <a:pt x="18669812" y="59690"/>
                    <a:pt x="18699021" y="88900"/>
                    <a:pt x="18699021" y="124460"/>
                  </a:cubicBezTo>
                  <a:lnTo>
                    <a:pt x="18699021" y="9035662"/>
                  </a:lnTo>
                  <a:cubicBezTo>
                    <a:pt x="18699021" y="9071221"/>
                    <a:pt x="18669812" y="9100431"/>
                    <a:pt x="18634252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8634252" y="59690"/>
                  </a:lnTo>
                  <a:moveTo>
                    <a:pt x="18634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18634252" y="9160121"/>
                  </a:lnTo>
                  <a:cubicBezTo>
                    <a:pt x="18702832" y="9160121"/>
                    <a:pt x="18758712" y="9104242"/>
                    <a:pt x="18758712" y="9035662"/>
                  </a:cubicBezTo>
                  <a:lnTo>
                    <a:pt x="18758712" y="124460"/>
                  </a:lnTo>
                  <a:cubicBezTo>
                    <a:pt x="18758712" y="55880"/>
                    <a:pt x="18702832" y="0"/>
                    <a:pt x="1863425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id="21" name="AutoShape 21"/>
          <p:cNvSpPr/>
          <p:nvPr/>
        </p:nvSpPr>
        <p:spPr>
          <a:xfrm>
            <a:off x="1923418" y="2612293"/>
            <a:ext cx="14441095" cy="2381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 rot="-10106257">
            <a:off x="4503954" y="690402"/>
            <a:ext cx="676596" cy="6765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6812148" y="5874679"/>
            <a:ext cx="705891" cy="70589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2894133" y="8859887"/>
            <a:ext cx="1306637" cy="1158173"/>
            <a:chOff x="0" y="0"/>
            <a:chExt cx="558181" cy="4947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8181" cy="494759"/>
            </a:xfrm>
            <a:custGeom>
              <a:avLst/>
              <a:gdLst/>
              <a:ahLst/>
              <a:cxnLst/>
              <a:rect l="l" t="t" r="r" b="b"/>
              <a:pathLst>
                <a:path w="558181" h="494759">
                  <a:moveTo>
                    <a:pt x="279091" y="0"/>
                  </a:moveTo>
                  <a:cubicBezTo>
                    <a:pt x="124953" y="0"/>
                    <a:pt x="0" y="110756"/>
                    <a:pt x="0" y="247379"/>
                  </a:cubicBezTo>
                  <a:cubicBezTo>
                    <a:pt x="0" y="384003"/>
                    <a:pt x="124953" y="494759"/>
                    <a:pt x="279091" y="494759"/>
                  </a:cubicBezTo>
                  <a:cubicBezTo>
                    <a:pt x="433228" y="494759"/>
                    <a:pt x="558181" y="384003"/>
                    <a:pt x="558181" y="247379"/>
                  </a:cubicBezTo>
                  <a:cubicBezTo>
                    <a:pt x="558181" y="110756"/>
                    <a:pt x="433228" y="0"/>
                    <a:pt x="279091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52329" y="-1241"/>
              <a:ext cx="453522" cy="44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1444123" y="8190132"/>
            <a:ext cx="958510" cy="95851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3840671" y="3802514"/>
            <a:ext cx="10606657" cy="434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st.subheader("Sentiment Distribution")</a:t>
            </a:r>
            <a:endParaRPr lang="en-US" sz="25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fig, ax = plt.subplots()</a:t>
            </a:r>
            <a:endParaRPr lang="en-US" sz="25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sns.countplot(x=data['target'], palette='Set2', ax=ax)</a:t>
            </a:r>
            <a:endParaRPr lang="en-US" sz="25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ax.set_xticklabels(['Negative', 'Positive'])</a:t>
            </a:r>
            <a:endParaRPr lang="en-US" sz="25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ax.set_xlabel('Sentiment')</a:t>
            </a:r>
            <a:endParaRPr lang="en-US" sz="25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ax.set_ylabel('Count')</a:t>
            </a:r>
            <a:endParaRPr lang="en-US" sz="25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st.pyplot(fig)</a:t>
            </a:r>
            <a:endParaRPr lang="en-US" sz="25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plt.close(fig)</a:t>
            </a:r>
            <a:endParaRPr lang="en-US" sz="25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Explanation:Visualizes the distribution of sentiment labels using a bar chart with Seaborn.</a:t>
            </a:r>
            <a:endParaRPr lang="en-US" sz="26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984710" y="2483705"/>
            <a:ext cx="11484412" cy="131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80"/>
              </a:lnSpc>
              <a:spcBef>
                <a:spcPct val="0"/>
              </a:spcBef>
            </a:pPr>
            <a:r>
              <a:rPr lang="en-US" sz="77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Python-Sentiment Distribution</a:t>
            </a:r>
            <a:endParaRPr lang="en-US" sz="77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  <p:grpSp>
        <p:nvGrpSpPr>
          <p:cNvPr id="36" name="Group 8"/>
          <p:cNvGrpSpPr/>
          <p:nvPr/>
        </p:nvGrpSpPr>
        <p:grpSpPr>
          <a:xfrm rot="0">
            <a:off x="14905615" y="2015000"/>
            <a:ext cx="837799" cy="364763"/>
            <a:chOff x="0" y="0"/>
            <a:chExt cx="1117065" cy="486350"/>
          </a:xfrm>
        </p:grpSpPr>
        <p:grpSp>
          <p:nvGrpSpPr>
            <p:cNvPr id="37" name="Group 9"/>
            <p:cNvGrpSpPr/>
            <p:nvPr/>
          </p:nvGrpSpPr>
          <p:grpSpPr>
            <a:xfrm rot="0">
              <a:off x="0" y="0"/>
              <a:ext cx="486350" cy="486350"/>
              <a:chOff x="0" y="0"/>
              <a:chExt cx="812800" cy="812800"/>
            </a:xfrm>
          </p:grpSpPr>
          <p:sp>
            <p:nvSpPr>
              <p:cNvPr id="38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39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0" name="Group 12"/>
            <p:cNvGrpSpPr/>
            <p:nvPr/>
          </p:nvGrpSpPr>
          <p:grpSpPr>
            <a:xfrm rot="0">
              <a:off x="630714" y="0"/>
              <a:ext cx="486350" cy="486350"/>
              <a:chOff x="0" y="0"/>
              <a:chExt cx="812800" cy="812800"/>
            </a:xfrm>
          </p:grpSpPr>
          <p:sp>
            <p:nvSpPr>
              <p:cNvPr id="41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42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A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028700"/>
            <a:ext cx="16230600" cy="8229600"/>
            <a:chOff x="0" y="0"/>
            <a:chExt cx="21083246" cy="10690097"/>
          </a:xfrm>
        </p:grpSpPr>
        <p:sp>
          <p:nvSpPr>
            <p:cNvPr id="3" name="Freeform 3"/>
            <p:cNvSpPr/>
            <p:nvPr/>
          </p:nvSpPr>
          <p:spPr>
            <a:xfrm>
              <a:off x="31750" y="31750"/>
              <a:ext cx="21019746" cy="10626596"/>
            </a:xfrm>
            <a:custGeom>
              <a:avLst/>
              <a:gdLst/>
              <a:ahLst/>
              <a:cxnLst/>
              <a:rect l="l" t="t" r="r" b="b"/>
              <a:pathLst>
                <a:path w="21019746" h="10626596">
                  <a:moveTo>
                    <a:pt x="20927036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0925766" y="0"/>
                  </a:lnTo>
                  <a:cubicBezTo>
                    <a:pt x="20976566" y="0"/>
                    <a:pt x="21018477" y="41910"/>
                    <a:pt x="21018477" y="92710"/>
                  </a:cubicBezTo>
                  <a:lnTo>
                    <a:pt x="21018477" y="10532617"/>
                  </a:lnTo>
                  <a:cubicBezTo>
                    <a:pt x="21019746" y="10584686"/>
                    <a:pt x="20977836" y="10626596"/>
                    <a:pt x="20927036" y="106265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1083246" cy="10690096"/>
            </a:xfrm>
            <a:custGeom>
              <a:avLst/>
              <a:gdLst/>
              <a:ahLst/>
              <a:cxnLst/>
              <a:rect l="l" t="t" r="r" b="b"/>
              <a:pathLst>
                <a:path w="21083246" h="10690096">
                  <a:moveTo>
                    <a:pt x="20958786" y="59690"/>
                  </a:moveTo>
                  <a:cubicBezTo>
                    <a:pt x="20994346" y="59690"/>
                    <a:pt x="21023556" y="88900"/>
                    <a:pt x="21023556" y="124460"/>
                  </a:cubicBezTo>
                  <a:lnTo>
                    <a:pt x="21023556" y="10565636"/>
                  </a:lnTo>
                  <a:cubicBezTo>
                    <a:pt x="21023556" y="10601196"/>
                    <a:pt x="20994346" y="10630406"/>
                    <a:pt x="20958786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0958786" y="59690"/>
                  </a:lnTo>
                  <a:moveTo>
                    <a:pt x="2095878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20958786" y="10690096"/>
                  </a:lnTo>
                  <a:cubicBezTo>
                    <a:pt x="21027366" y="10690096"/>
                    <a:pt x="21083246" y="10634217"/>
                    <a:pt x="21083246" y="10565636"/>
                  </a:cubicBezTo>
                  <a:lnTo>
                    <a:pt x="21083246" y="124460"/>
                  </a:lnTo>
                  <a:cubicBezTo>
                    <a:pt x="21083246" y="55880"/>
                    <a:pt x="21027366" y="0"/>
                    <a:pt x="20958786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id="5" name="AutoShape 5"/>
          <p:cNvSpPr/>
          <p:nvPr/>
        </p:nvSpPr>
        <p:spPr>
          <a:xfrm flipV="1">
            <a:off x="1028700" y="2636105"/>
            <a:ext cx="16230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2816245" y="4409884"/>
            <a:ext cx="11430595" cy="2967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plot_wordcloud(data[data['target'] == 1]['text'], "Positive Tweets")</a:t>
            </a:r>
            <a:endParaRPr lang="en-US" sz="28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plot_wordcloud(data[data['target'] == 0]['text'], "Negative Tweets")</a:t>
            </a:r>
            <a:endParaRPr lang="en-US" sz="28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920"/>
              </a:lnSpc>
              <a:spcBef>
                <a:spcPct val="0"/>
              </a:spcBef>
            </a:pP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Explanation:</a:t>
            </a:r>
            <a:endParaRPr lang="en-US" sz="28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Displays two separate WordClouds for most frequent words in positive and negative tweets.</a:t>
            </a:r>
            <a:endParaRPr lang="en-US" sz="28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920"/>
              </a:lnSpc>
              <a:spcBef>
                <a:spcPct val="0"/>
              </a:spcBef>
            </a:pPr>
          </a:p>
        </p:txBody>
      </p:sp>
      <p:sp>
        <p:nvSpPr>
          <p:cNvPr id="17" name="TextBox 17"/>
          <p:cNvSpPr txBox="1"/>
          <p:nvPr/>
        </p:nvSpPr>
        <p:spPr>
          <a:xfrm>
            <a:off x="1028700" y="2679402"/>
            <a:ext cx="13218140" cy="131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80"/>
              </a:lnSpc>
              <a:spcBef>
                <a:spcPct val="0"/>
              </a:spcBef>
            </a:pPr>
            <a:r>
              <a:rPr lang="en-US" sz="77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Python-WordClouds by Sentiment</a:t>
            </a:r>
            <a:endParaRPr lang="en-US" sz="77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  <p:grpSp>
        <p:nvGrpSpPr>
          <p:cNvPr id="18" name="Group 8"/>
          <p:cNvGrpSpPr/>
          <p:nvPr/>
        </p:nvGrpSpPr>
        <p:grpSpPr>
          <a:xfrm rot="0">
            <a:off x="15815570" y="1549545"/>
            <a:ext cx="837799" cy="364763"/>
            <a:chOff x="0" y="0"/>
            <a:chExt cx="1117065" cy="486350"/>
          </a:xfrm>
        </p:grpSpPr>
        <p:grpSp>
          <p:nvGrpSpPr>
            <p:cNvPr id="19" name="Group 9"/>
            <p:cNvGrpSpPr/>
            <p:nvPr/>
          </p:nvGrpSpPr>
          <p:grpSpPr>
            <a:xfrm rot="0">
              <a:off x="0" y="0"/>
              <a:ext cx="486350" cy="486350"/>
              <a:chOff x="0" y="0"/>
              <a:chExt cx="812800" cy="812800"/>
            </a:xfrm>
          </p:grpSpPr>
          <p:sp>
            <p:nvSpPr>
              <p:cNvPr id="2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21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22" name="Group 12"/>
            <p:cNvGrpSpPr/>
            <p:nvPr/>
          </p:nvGrpSpPr>
          <p:grpSpPr>
            <a:xfrm rot="0">
              <a:off x="630714" y="0"/>
              <a:ext cx="486350" cy="486350"/>
              <a:chOff x="0" y="0"/>
              <a:chExt cx="812800" cy="812800"/>
            </a:xfrm>
          </p:grpSpPr>
          <p:sp>
            <p:nvSpPr>
              <p:cNvPr id="2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24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243697" y="7319270"/>
            <a:ext cx="2241710" cy="22417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302954" y="426002"/>
            <a:ext cx="3363512" cy="336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923378" y="1617613"/>
            <a:ext cx="14441095" cy="7051773"/>
            <a:chOff x="0" y="0"/>
            <a:chExt cx="18758712" cy="9160122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18695212" cy="9096621"/>
            </a:xfrm>
            <a:custGeom>
              <a:avLst/>
              <a:gdLst/>
              <a:ahLst/>
              <a:cxnLst/>
              <a:rect l="l" t="t" r="r" b="b"/>
              <a:pathLst>
                <a:path w="18695212" h="9096621">
                  <a:moveTo>
                    <a:pt x="18602502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8601232" y="0"/>
                  </a:lnTo>
                  <a:cubicBezTo>
                    <a:pt x="18652032" y="0"/>
                    <a:pt x="18693943" y="41910"/>
                    <a:pt x="18693943" y="92710"/>
                  </a:cubicBezTo>
                  <a:lnTo>
                    <a:pt x="18693943" y="9002642"/>
                  </a:lnTo>
                  <a:cubicBezTo>
                    <a:pt x="18695212" y="9054712"/>
                    <a:pt x="18653302" y="9096621"/>
                    <a:pt x="18602502" y="909662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8758712" cy="9160121"/>
            </a:xfrm>
            <a:custGeom>
              <a:avLst/>
              <a:gdLst/>
              <a:ahLst/>
              <a:cxnLst/>
              <a:rect l="l" t="t" r="r" b="b"/>
              <a:pathLst>
                <a:path w="18758712" h="9160121">
                  <a:moveTo>
                    <a:pt x="18634252" y="59690"/>
                  </a:moveTo>
                  <a:cubicBezTo>
                    <a:pt x="18669812" y="59690"/>
                    <a:pt x="18699021" y="88900"/>
                    <a:pt x="18699021" y="124460"/>
                  </a:cubicBezTo>
                  <a:lnTo>
                    <a:pt x="18699021" y="9035662"/>
                  </a:lnTo>
                  <a:cubicBezTo>
                    <a:pt x="18699021" y="9071221"/>
                    <a:pt x="18669812" y="9100431"/>
                    <a:pt x="18634252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8634252" y="59690"/>
                  </a:lnTo>
                  <a:moveTo>
                    <a:pt x="18634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18634252" y="9160121"/>
                  </a:lnTo>
                  <a:cubicBezTo>
                    <a:pt x="18702832" y="9160121"/>
                    <a:pt x="18758712" y="9104242"/>
                    <a:pt x="18758712" y="9035662"/>
                  </a:cubicBezTo>
                  <a:lnTo>
                    <a:pt x="18758712" y="124460"/>
                  </a:lnTo>
                  <a:cubicBezTo>
                    <a:pt x="18758712" y="55880"/>
                    <a:pt x="18702832" y="0"/>
                    <a:pt x="1863425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id="21" name="AutoShape 21"/>
          <p:cNvSpPr/>
          <p:nvPr/>
        </p:nvSpPr>
        <p:spPr>
          <a:xfrm>
            <a:off x="1923418" y="2612293"/>
            <a:ext cx="14441095" cy="2381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 rot="-10106257">
            <a:off x="4503954" y="690402"/>
            <a:ext cx="676596" cy="6765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6812148" y="5874679"/>
            <a:ext cx="705891" cy="70589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2894133" y="8859887"/>
            <a:ext cx="1306637" cy="1158173"/>
            <a:chOff x="0" y="0"/>
            <a:chExt cx="558181" cy="4947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8181" cy="494759"/>
            </a:xfrm>
            <a:custGeom>
              <a:avLst/>
              <a:gdLst/>
              <a:ahLst/>
              <a:cxnLst/>
              <a:rect l="l" t="t" r="r" b="b"/>
              <a:pathLst>
                <a:path w="558181" h="494759">
                  <a:moveTo>
                    <a:pt x="279091" y="0"/>
                  </a:moveTo>
                  <a:cubicBezTo>
                    <a:pt x="124953" y="0"/>
                    <a:pt x="0" y="110756"/>
                    <a:pt x="0" y="247379"/>
                  </a:cubicBezTo>
                  <a:cubicBezTo>
                    <a:pt x="0" y="384003"/>
                    <a:pt x="124953" y="494759"/>
                    <a:pt x="279091" y="494759"/>
                  </a:cubicBezTo>
                  <a:cubicBezTo>
                    <a:pt x="433228" y="494759"/>
                    <a:pt x="558181" y="384003"/>
                    <a:pt x="558181" y="247379"/>
                  </a:cubicBezTo>
                  <a:cubicBezTo>
                    <a:pt x="558181" y="110756"/>
                    <a:pt x="433228" y="0"/>
                    <a:pt x="279091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52329" y="-1241"/>
              <a:ext cx="453522" cy="44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1444123" y="8190132"/>
            <a:ext cx="958510" cy="95851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985010" y="2483485"/>
            <a:ext cx="12372340" cy="1382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780"/>
              </a:lnSpc>
              <a:spcBef>
                <a:spcPct val="0"/>
              </a:spcBef>
            </a:pPr>
            <a:r>
              <a:rPr lang="en-US" sz="77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Python-Tweet Length</a:t>
            </a:r>
            <a:r>
              <a:rPr lang="en-GB" altLang="en-US" sz="77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 </a:t>
            </a:r>
            <a:r>
              <a:rPr lang="en-US" sz="77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Distribution</a:t>
            </a:r>
            <a:endParaRPr lang="en-US" sz="77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3316903" y="3745449"/>
            <a:ext cx="11654194" cy="393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data['length'] = data['text'].apply(len)</a:t>
            </a:r>
            <a:endParaRPr lang="en-US" sz="25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fig2, ax2 = plt.subplots()</a:t>
            </a:r>
            <a:endParaRPr lang="en-US" sz="25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sns.histplot(data['length'], kde=True, bins=30, color='purple', ax=ax2)</a:t>
            </a:r>
            <a:endParaRPr lang="en-US" sz="25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ax2.set_xlabel('Tweet Length')</a:t>
            </a:r>
            <a:endParaRPr lang="en-US" sz="25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st.pyplot(fig2)</a:t>
            </a:r>
            <a:endParaRPr lang="en-US" sz="25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plt.close(fig2)</a:t>
            </a:r>
            <a:endParaRPr lang="en-US" sz="25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Explanation:</a:t>
            </a:r>
            <a:endParaRPr lang="en-US" sz="25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Plots the distribution of tweet lengths using a histogram. Useful for understanding tweet size variability.</a:t>
            </a:r>
            <a:endParaRPr lang="en-US" sz="25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  <p:grpSp>
        <p:nvGrpSpPr>
          <p:cNvPr id="36" name="Group 8"/>
          <p:cNvGrpSpPr/>
          <p:nvPr/>
        </p:nvGrpSpPr>
        <p:grpSpPr>
          <a:xfrm rot="0">
            <a:off x="14905615" y="2015000"/>
            <a:ext cx="837799" cy="364763"/>
            <a:chOff x="0" y="0"/>
            <a:chExt cx="1117065" cy="486350"/>
          </a:xfrm>
        </p:grpSpPr>
        <p:grpSp>
          <p:nvGrpSpPr>
            <p:cNvPr id="37" name="Group 9"/>
            <p:cNvGrpSpPr/>
            <p:nvPr/>
          </p:nvGrpSpPr>
          <p:grpSpPr>
            <a:xfrm rot="0">
              <a:off x="0" y="0"/>
              <a:ext cx="486350" cy="486350"/>
              <a:chOff x="0" y="0"/>
              <a:chExt cx="812800" cy="812800"/>
            </a:xfrm>
          </p:grpSpPr>
          <p:sp>
            <p:nvSpPr>
              <p:cNvPr id="38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39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0" name="Group 12"/>
            <p:cNvGrpSpPr/>
            <p:nvPr/>
          </p:nvGrpSpPr>
          <p:grpSpPr>
            <a:xfrm rot="0">
              <a:off x="630714" y="0"/>
              <a:ext cx="486350" cy="486350"/>
              <a:chOff x="0" y="0"/>
              <a:chExt cx="812800" cy="812800"/>
            </a:xfrm>
          </p:grpSpPr>
          <p:sp>
            <p:nvSpPr>
              <p:cNvPr id="41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42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243697" y="7319270"/>
            <a:ext cx="2241710" cy="22417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302954" y="426002"/>
            <a:ext cx="3363512" cy="336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923378" y="1617613"/>
            <a:ext cx="14441095" cy="7051773"/>
            <a:chOff x="0" y="0"/>
            <a:chExt cx="18758712" cy="9160122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18695212" cy="9096621"/>
            </a:xfrm>
            <a:custGeom>
              <a:avLst/>
              <a:gdLst/>
              <a:ahLst/>
              <a:cxnLst/>
              <a:rect l="l" t="t" r="r" b="b"/>
              <a:pathLst>
                <a:path w="18695212" h="9096621">
                  <a:moveTo>
                    <a:pt x="18602502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8601232" y="0"/>
                  </a:lnTo>
                  <a:cubicBezTo>
                    <a:pt x="18652032" y="0"/>
                    <a:pt x="18693943" y="41910"/>
                    <a:pt x="18693943" y="92710"/>
                  </a:cubicBezTo>
                  <a:lnTo>
                    <a:pt x="18693943" y="9002642"/>
                  </a:lnTo>
                  <a:cubicBezTo>
                    <a:pt x="18695212" y="9054712"/>
                    <a:pt x="18653302" y="9096621"/>
                    <a:pt x="18602502" y="909662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en-GB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8758712" cy="9160121"/>
            </a:xfrm>
            <a:custGeom>
              <a:avLst/>
              <a:gdLst/>
              <a:ahLst/>
              <a:cxnLst/>
              <a:rect l="l" t="t" r="r" b="b"/>
              <a:pathLst>
                <a:path w="18758712" h="9160121">
                  <a:moveTo>
                    <a:pt x="18634252" y="59690"/>
                  </a:moveTo>
                  <a:cubicBezTo>
                    <a:pt x="18669812" y="59690"/>
                    <a:pt x="18699021" y="88900"/>
                    <a:pt x="18699021" y="124460"/>
                  </a:cubicBezTo>
                  <a:lnTo>
                    <a:pt x="18699021" y="9035662"/>
                  </a:lnTo>
                  <a:cubicBezTo>
                    <a:pt x="18699021" y="9071221"/>
                    <a:pt x="18669812" y="9100431"/>
                    <a:pt x="18634252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8634252" y="59690"/>
                  </a:lnTo>
                  <a:moveTo>
                    <a:pt x="18634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18634252" y="9160121"/>
                  </a:lnTo>
                  <a:cubicBezTo>
                    <a:pt x="18702832" y="9160121"/>
                    <a:pt x="18758712" y="9104242"/>
                    <a:pt x="18758712" y="9035662"/>
                  </a:cubicBezTo>
                  <a:lnTo>
                    <a:pt x="18758712" y="124460"/>
                  </a:lnTo>
                  <a:cubicBezTo>
                    <a:pt x="18758712" y="55880"/>
                    <a:pt x="18702832" y="0"/>
                    <a:pt x="1863425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id="21" name="AutoShape 21"/>
          <p:cNvSpPr/>
          <p:nvPr/>
        </p:nvSpPr>
        <p:spPr>
          <a:xfrm>
            <a:off x="1923418" y="2612293"/>
            <a:ext cx="14441095" cy="2381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 rot="-10106257">
            <a:off x="4503954" y="690402"/>
            <a:ext cx="676596" cy="6765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6812148" y="5874679"/>
            <a:ext cx="705891" cy="70589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2894133" y="8859887"/>
            <a:ext cx="1306637" cy="1158173"/>
            <a:chOff x="0" y="0"/>
            <a:chExt cx="558181" cy="4947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8181" cy="494759"/>
            </a:xfrm>
            <a:custGeom>
              <a:avLst/>
              <a:gdLst/>
              <a:ahLst/>
              <a:cxnLst/>
              <a:rect l="l" t="t" r="r" b="b"/>
              <a:pathLst>
                <a:path w="558181" h="494759">
                  <a:moveTo>
                    <a:pt x="279091" y="0"/>
                  </a:moveTo>
                  <a:cubicBezTo>
                    <a:pt x="124953" y="0"/>
                    <a:pt x="0" y="110756"/>
                    <a:pt x="0" y="247379"/>
                  </a:cubicBezTo>
                  <a:cubicBezTo>
                    <a:pt x="0" y="384003"/>
                    <a:pt x="124953" y="494759"/>
                    <a:pt x="279091" y="494759"/>
                  </a:cubicBezTo>
                  <a:cubicBezTo>
                    <a:pt x="433228" y="494759"/>
                    <a:pt x="558181" y="384003"/>
                    <a:pt x="558181" y="247379"/>
                  </a:cubicBezTo>
                  <a:cubicBezTo>
                    <a:pt x="558181" y="110756"/>
                    <a:pt x="433228" y="0"/>
                    <a:pt x="279091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52329" y="-1241"/>
              <a:ext cx="453522" cy="44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1444123" y="8190132"/>
            <a:ext cx="958510" cy="95851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057400" y="3162300"/>
            <a:ext cx="11654155" cy="64325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GB" altLang="en-US" sz="7700">
                <a:latin typeface="29LT Adir Semi-Bold" charset="0"/>
                <a:cs typeface="29LT Adir Semi-Bold" charset="0"/>
                <a:sym typeface="+mn-ea"/>
              </a:rPr>
              <a:t>Python-Train/Test Split</a:t>
            </a:r>
            <a:endParaRPr lang="en-GB" altLang="en-US" sz="770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  <p:grpSp>
        <p:nvGrpSpPr>
          <p:cNvPr id="36" name="Group 8"/>
          <p:cNvGrpSpPr/>
          <p:nvPr/>
        </p:nvGrpSpPr>
        <p:grpSpPr>
          <a:xfrm rot="0">
            <a:off x="14905615" y="2015000"/>
            <a:ext cx="837799" cy="364763"/>
            <a:chOff x="0" y="0"/>
            <a:chExt cx="1117065" cy="486350"/>
          </a:xfrm>
        </p:grpSpPr>
        <p:grpSp>
          <p:nvGrpSpPr>
            <p:cNvPr id="37" name="Group 9"/>
            <p:cNvGrpSpPr/>
            <p:nvPr/>
          </p:nvGrpSpPr>
          <p:grpSpPr>
            <a:xfrm rot="0">
              <a:off x="0" y="0"/>
              <a:ext cx="486350" cy="486350"/>
              <a:chOff x="0" y="0"/>
              <a:chExt cx="812800" cy="812800"/>
            </a:xfrm>
          </p:grpSpPr>
          <p:sp>
            <p:nvSpPr>
              <p:cNvPr id="38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39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0" name="Group 12"/>
            <p:cNvGrpSpPr/>
            <p:nvPr/>
          </p:nvGrpSpPr>
          <p:grpSpPr>
            <a:xfrm rot="0">
              <a:off x="630714" y="0"/>
              <a:ext cx="486350" cy="486350"/>
              <a:chOff x="0" y="0"/>
              <a:chExt cx="812800" cy="812800"/>
            </a:xfrm>
          </p:grpSpPr>
          <p:sp>
            <p:nvSpPr>
              <p:cNvPr id="41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42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1" name="TextBox 35"/>
          <p:cNvSpPr txBox="1"/>
          <p:nvPr/>
        </p:nvSpPr>
        <p:spPr>
          <a:xfrm>
            <a:off x="3048000" y="3913505"/>
            <a:ext cx="11654155" cy="306959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marL="0" indent="0">
              <a:buNone/>
            </a:pPr>
            <a:r>
              <a:rPr lang="en-US" altLang="en-GB" sz="2800">
                <a:sym typeface="+mn-ea"/>
              </a:rPr>
              <a:t>X_train, X_test, y_train, y_test = train_test_split(data['text'], data['target'], test_size=0.2, random_state=42)</a:t>
            </a:r>
            <a:endParaRPr lang="en-US" altLang="en-GB" sz="2800"/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US" altLang="en-GB" sz="2800"/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US" altLang="en-GB" sz="2800"/>
          </a:p>
          <a:p>
            <a:pPr marL="0" indent="0">
              <a:buNone/>
            </a:pPr>
            <a:r>
              <a:rPr lang="en-US" altLang="en-GB" sz="2800">
                <a:sym typeface="+mn-ea"/>
              </a:rPr>
              <a:t>Explanation:</a:t>
            </a:r>
            <a:endParaRPr lang="en-US" altLang="en-GB" sz="2800"/>
          </a:p>
          <a:p>
            <a:pPr marL="0" indent="0">
              <a:buNone/>
            </a:pPr>
            <a:r>
              <a:rPr lang="en-US" altLang="en-GB" sz="2800">
                <a:sym typeface="+mn-ea"/>
              </a:rPr>
              <a:t>Splits the dataset into 80% training and 20% testing for model training and evaluation.</a:t>
            </a:r>
            <a:endParaRPr lang="en-US" altLang="en-GB" sz="2800"/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GB" altLang="en-US" sz="280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243697" y="7319270"/>
            <a:ext cx="2241710" cy="22417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302954" y="426002"/>
            <a:ext cx="3363512" cy="336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923378" y="1617613"/>
            <a:ext cx="14441095" cy="7051773"/>
            <a:chOff x="0" y="0"/>
            <a:chExt cx="18758712" cy="9160122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18695212" cy="9096621"/>
            </a:xfrm>
            <a:custGeom>
              <a:avLst/>
              <a:gdLst/>
              <a:ahLst/>
              <a:cxnLst/>
              <a:rect l="l" t="t" r="r" b="b"/>
              <a:pathLst>
                <a:path w="18695212" h="9096621">
                  <a:moveTo>
                    <a:pt x="18602502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8601232" y="0"/>
                  </a:lnTo>
                  <a:cubicBezTo>
                    <a:pt x="18652032" y="0"/>
                    <a:pt x="18693943" y="41910"/>
                    <a:pt x="18693943" y="92710"/>
                  </a:cubicBezTo>
                  <a:lnTo>
                    <a:pt x="18693943" y="9002642"/>
                  </a:lnTo>
                  <a:cubicBezTo>
                    <a:pt x="18695212" y="9054712"/>
                    <a:pt x="18653302" y="9096621"/>
                    <a:pt x="18602502" y="909662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en-GB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8758712" cy="9160121"/>
            </a:xfrm>
            <a:custGeom>
              <a:avLst/>
              <a:gdLst/>
              <a:ahLst/>
              <a:cxnLst/>
              <a:rect l="l" t="t" r="r" b="b"/>
              <a:pathLst>
                <a:path w="18758712" h="9160121">
                  <a:moveTo>
                    <a:pt x="18634252" y="59690"/>
                  </a:moveTo>
                  <a:cubicBezTo>
                    <a:pt x="18669812" y="59690"/>
                    <a:pt x="18699021" y="88900"/>
                    <a:pt x="18699021" y="124460"/>
                  </a:cubicBezTo>
                  <a:lnTo>
                    <a:pt x="18699021" y="9035662"/>
                  </a:lnTo>
                  <a:cubicBezTo>
                    <a:pt x="18699021" y="9071221"/>
                    <a:pt x="18669812" y="9100431"/>
                    <a:pt x="18634252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8634252" y="59690"/>
                  </a:lnTo>
                  <a:moveTo>
                    <a:pt x="18634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18634252" y="9160121"/>
                  </a:lnTo>
                  <a:cubicBezTo>
                    <a:pt x="18702832" y="9160121"/>
                    <a:pt x="18758712" y="9104242"/>
                    <a:pt x="18758712" y="9035662"/>
                  </a:cubicBezTo>
                  <a:lnTo>
                    <a:pt x="18758712" y="124460"/>
                  </a:lnTo>
                  <a:cubicBezTo>
                    <a:pt x="18758712" y="55880"/>
                    <a:pt x="18702832" y="0"/>
                    <a:pt x="1863425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id="21" name="AutoShape 21"/>
          <p:cNvSpPr/>
          <p:nvPr/>
        </p:nvSpPr>
        <p:spPr>
          <a:xfrm>
            <a:off x="1923418" y="2612293"/>
            <a:ext cx="14441095" cy="2381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 rot="-10106257">
            <a:off x="4503954" y="690402"/>
            <a:ext cx="676596" cy="6765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6812148" y="5874679"/>
            <a:ext cx="705891" cy="70589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2894133" y="8859887"/>
            <a:ext cx="1306637" cy="1158173"/>
            <a:chOff x="0" y="0"/>
            <a:chExt cx="558181" cy="4947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8181" cy="494759"/>
            </a:xfrm>
            <a:custGeom>
              <a:avLst/>
              <a:gdLst/>
              <a:ahLst/>
              <a:cxnLst/>
              <a:rect l="l" t="t" r="r" b="b"/>
              <a:pathLst>
                <a:path w="558181" h="494759">
                  <a:moveTo>
                    <a:pt x="279091" y="0"/>
                  </a:moveTo>
                  <a:cubicBezTo>
                    <a:pt x="124953" y="0"/>
                    <a:pt x="0" y="110756"/>
                    <a:pt x="0" y="247379"/>
                  </a:cubicBezTo>
                  <a:cubicBezTo>
                    <a:pt x="0" y="384003"/>
                    <a:pt x="124953" y="494759"/>
                    <a:pt x="279091" y="494759"/>
                  </a:cubicBezTo>
                  <a:cubicBezTo>
                    <a:pt x="433228" y="494759"/>
                    <a:pt x="558181" y="384003"/>
                    <a:pt x="558181" y="247379"/>
                  </a:cubicBezTo>
                  <a:cubicBezTo>
                    <a:pt x="558181" y="110756"/>
                    <a:pt x="433228" y="0"/>
                    <a:pt x="279091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52329" y="-1241"/>
              <a:ext cx="453522" cy="44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1444123" y="8190132"/>
            <a:ext cx="958510" cy="95851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057400" y="3162300"/>
            <a:ext cx="11654155" cy="177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GB" altLang="en-US" sz="7700">
                <a:latin typeface="29LT Adir Semi-Bold" charset="0"/>
                <a:cs typeface="29LT Adir Semi-Bold" charset="0"/>
                <a:sym typeface="+mn-ea"/>
              </a:rPr>
              <a:t>Python-</a:t>
            </a:r>
            <a:r>
              <a:rPr lang="en-US" altLang="en-GB" sz="7700">
                <a:latin typeface="29LT Adir Semi-Bold" charset="0"/>
                <a:cs typeface="29LT Adir Semi-Bold" charset="0"/>
                <a:sym typeface="+mn-ea"/>
              </a:rPr>
              <a:t>TF-IDF Vectorization</a:t>
            </a:r>
            <a:endParaRPr lang="en-US" altLang="en-GB" sz="7700"/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GB" altLang="en-US" sz="770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  <p:grpSp>
        <p:nvGrpSpPr>
          <p:cNvPr id="36" name="Group 8"/>
          <p:cNvGrpSpPr/>
          <p:nvPr/>
        </p:nvGrpSpPr>
        <p:grpSpPr>
          <a:xfrm rot="0">
            <a:off x="14905615" y="2015000"/>
            <a:ext cx="837799" cy="364763"/>
            <a:chOff x="0" y="0"/>
            <a:chExt cx="1117065" cy="486350"/>
          </a:xfrm>
        </p:grpSpPr>
        <p:grpSp>
          <p:nvGrpSpPr>
            <p:cNvPr id="37" name="Group 9"/>
            <p:cNvGrpSpPr/>
            <p:nvPr/>
          </p:nvGrpSpPr>
          <p:grpSpPr>
            <a:xfrm rot="0">
              <a:off x="0" y="0"/>
              <a:ext cx="486350" cy="486350"/>
              <a:chOff x="0" y="0"/>
              <a:chExt cx="812800" cy="812800"/>
            </a:xfrm>
          </p:grpSpPr>
          <p:sp>
            <p:nvSpPr>
              <p:cNvPr id="38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39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0" name="Group 12"/>
            <p:cNvGrpSpPr/>
            <p:nvPr/>
          </p:nvGrpSpPr>
          <p:grpSpPr>
            <a:xfrm rot="0">
              <a:off x="630714" y="0"/>
              <a:ext cx="486350" cy="486350"/>
              <a:chOff x="0" y="0"/>
              <a:chExt cx="812800" cy="812800"/>
            </a:xfrm>
          </p:grpSpPr>
          <p:sp>
            <p:nvSpPr>
              <p:cNvPr id="41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42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1" name="TextBox 35"/>
          <p:cNvSpPr txBox="1"/>
          <p:nvPr/>
        </p:nvSpPr>
        <p:spPr>
          <a:xfrm>
            <a:off x="3048000" y="3913505"/>
            <a:ext cx="11654155" cy="38163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vectorizer = TfidfVectorizer(max_features=5000)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X_train_vectors = vectorizer.fit_transform(X_train)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X_test_vectors = vectorizer.transform(X_test)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Explanation: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Converts tweets into numerical feature vectors using TF-IDF (Term Frequency–Inverse Document Frequency).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GB" altLang="en-US" sz="280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243697" y="7319270"/>
            <a:ext cx="2241710" cy="22417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302954" y="426002"/>
            <a:ext cx="3363512" cy="336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923378" y="1617613"/>
            <a:ext cx="14441095" cy="7051773"/>
            <a:chOff x="0" y="0"/>
            <a:chExt cx="18758712" cy="9160122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18695212" cy="9096621"/>
            </a:xfrm>
            <a:custGeom>
              <a:avLst/>
              <a:gdLst/>
              <a:ahLst/>
              <a:cxnLst/>
              <a:rect l="l" t="t" r="r" b="b"/>
              <a:pathLst>
                <a:path w="18695212" h="9096621">
                  <a:moveTo>
                    <a:pt x="18602502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8601232" y="0"/>
                  </a:lnTo>
                  <a:cubicBezTo>
                    <a:pt x="18652032" y="0"/>
                    <a:pt x="18693943" y="41910"/>
                    <a:pt x="18693943" y="92710"/>
                  </a:cubicBezTo>
                  <a:lnTo>
                    <a:pt x="18693943" y="9002642"/>
                  </a:lnTo>
                  <a:cubicBezTo>
                    <a:pt x="18695212" y="9054712"/>
                    <a:pt x="18653302" y="9096621"/>
                    <a:pt x="18602502" y="909662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en-GB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8758712" cy="9160121"/>
            </a:xfrm>
            <a:custGeom>
              <a:avLst/>
              <a:gdLst/>
              <a:ahLst/>
              <a:cxnLst/>
              <a:rect l="l" t="t" r="r" b="b"/>
              <a:pathLst>
                <a:path w="18758712" h="9160121">
                  <a:moveTo>
                    <a:pt x="18634252" y="59690"/>
                  </a:moveTo>
                  <a:cubicBezTo>
                    <a:pt x="18669812" y="59690"/>
                    <a:pt x="18699021" y="88900"/>
                    <a:pt x="18699021" y="124460"/>
                  </a:cubicBezTo>
                  <a:lnTo>
                    <a:pt x="18699021" y="9035662"/>
                  </a:lnTo>
                  <a:cubicBezTo>
                    <a:pt x="18699021" y="9071221"/>
                    <a:pt x="18669812" y="9100431"/>
                    <a:pt x="18634252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8634252" y="59690"/>
                  </a:lnTo>
                  <a:moveTo>
                    <a:pt x="18634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18634252" y="9160121"/>
                  </a:lnTo>
                  <a:cubicBezTo>
                    <a:pt x="18702832" y="9160121"/>
                    <a:pt x="18758712" y="9104242"/>
                    <a:pt x="18758712" y="9035662"/>
                  </a:cubicBezTo>
                  <a:lnTo>
                    <a:pt x="18758712" y="124460"/>
                  </a:lnTo>
                  <a:cubicBezTo>
                    <a:pt x="18758712" y="55880"/>
                    <a:pt x="18702832" y="0"/>
                    <a:pt x="1863425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id="21" name="AutoShape 21"/>
          <p:cNvSpPr/>
          <p:nvPr/>
        </p:nvSpPr>
        <p:spPr>
          <a:xfrm>
            <a:off x="1923418" y="2612293"/>
            <a:ext cx="14441095" cy="2381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 rot="-10106257">
            <a:off x="4503954" y="690402"/>
            <a:ext cx="676596" cy="6765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6812148" y="5874679"/>
            <a:ext cx="705891" cy="70589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2894133" y="8859887"/>
            <a:ext cx="1306637" cy="1158173"/>
            <a:chOff x="0" y="0"/>
            <a:chExt cx="558181" cy="4947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8181" cy="494759"/>
            </a:xfrm>
            <a:custGeom>
              <a:avLst/>
              <a:gdLst/>
              <a:ahLst/>
              <a:cxnLst/>
              <a:rect l="l" t="t" r="r" b="b"/>
              <a:pathLst>
                <a:path w="558181" h="494759">
                  <a:moveTo>
                    <a:pt x="279091" y="0"/>
                  </a:moveTo>
                  <a:cubicBezTo>
                    <a:pt x="124953" y="0"/>
                    <a:pt x="0" y="110756"/>
                    <a:pt x="0" y="247379"/>
                  </a:cubicBezTo>
                  <a:cubicBezTo>
                    <a:pt x="0" y="384003"/>
                    <a:pt x="124953" y="494759"/>
                    <a:pt x="279091" y="494759"/>
                  </a:cubicBezTo>
                  <a:cubicBezTo>
                    <a:pt x="433228" y="494759"/>
                    <a:pt x="558181" y="384003"/>
                    <a:pt x="558181" y="247379"/>
                  </a:cubicBezTo>
                  <a:cubicBezTo>
                    <a:pt x="558181" y="110756"/>
                    <a:pt x="433228" y="0"/>
                    <a:pt x="279091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52329" y="-1241"/>
              <a:ext cx="453522" cy="44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1444123" y="8190132"/>
            <a:ext cx="958510" cy="95851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057400" y="3162300"/>
            <a:ext cx="11654155" cy="177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GB" altLang="en-US" sz="7700">
                <a:latin typeface="29LT Adir Semi-Bold" charset="0"/>
                <a:cs typeface="29LT Adir Semi-Bold" charset="0"/>
                <a:sym typeface="+mn-ea"/>
              </a:rPr>
              <a:t>Python-</a:t>
            </a:r>
            <a:r>
              <a:rPr lang="en-US" altLang="en-GB" sz="7700">
                <a:latin typeface="29LT Adir Semi-Bold" charset="0"/>
                <a:cs typeface="29LT Adir Semi-Bold" charset="0"/>
                <a:sym typeface="+mn-ea"/>
              </a:rPr>
              <a:t>T</a:t>
            </a:r>
            <a:r>
              <a:rPr lang="en-GB" altLang="en-US" sz="7700">
                <a:latin typeface="29LT Adir Semi-Bold" charset="0"/>
                <a:cs typeface="29LT Adir Semi-Bold" charset="0"/>
                <a:sym typeface="+mn-ea"/>
              </a:rPr>
              <a:t>rain Logistic Regression</a:t>
            </a:r>
            <a:endParaRPr lang="en-US" altLang="en-GB" sz="7700"/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GB" altLang="en-US" sz="770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  <p:grpSp>
        <p:nvGrpSpPr>
          <p:cNvPr id="36" name="Group 8"/>
          <p:cNvGrpSpPr/>
          <p:nvPr/>
        </p:nvGrpSpPr>
        <p:grpSpPr>
          <a:xfrm rot="0">
            <a:off x="14905615" y="2015000"/>
            <a:ext cx="837799" cy="364763"/>
            <a:chOff x="0" y="0"/>
            <a:chExt cx="1117065" cy="486350"/>
          </a:xfrm>
        </p:grpSpPr>
        <p:grpSp>
          <p:nvGrpSpPr>
            <p:cNvPr id="37" name="Group 9"/>
            <p:cNvGrpSpPr/>
            <p:nvPr/>
          </p:nvGrpSpPr>
          <p:grpSpPr>
            <a:xfrm rot="0">
              <a:off x="0" y="0"/>
              <a:ext cx="486350" cy="486350"/>
              <a:chOff x="0" y="0"/>
              <a:chExt cx="812800" cy="812800"/>
            </a:xfrm>
          </p:grpSpPr>
          <p:sp>
            <p:nvSpPr>
              <p:cNvPr id="38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39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0" name="Group 12"/>
            <p:cNvGrpSpPr/>
            <p:nvPr/>
          </p:nvGrpSpPr>
          <p:grpSpPr>
            <a:xfrm rot="0">
              <a:off x="630714" y="0"/>
              <a:ext cx="486350" cy="486350"/>
              <a:chOff x="0" y="0"/>
              <a:chExt cx="812800" cy="812800"/>
            </a:xfrm>
          </p:grpSpPr>
          <p:sp>
            <p:nvSpPr>
              <p:cNvPr id="41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42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1" name="TextBox 35"/>
          <p:cNvSpPr txBox="1"/>
          <p:nvPr/>
        </p:nvSpPr>
        <p:spPr>
          <a:xfrm>
            <a:off x="3124200" y="3913505"/>
            <a:ext cx="12291695" cy="38163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model = LogisticRegression(max_iter=300)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model.fit(X_train_vectors, y_train)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endParaRPr lang="en-GB" altLang="en-US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Explanation: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Trains a logistic regression classifier to predict tweet sentiment. max_iter=300 ensures convergence.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GB" altLang="en-US" sz="280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243697" y="7319270"/>
            <a:ext cx="2241710" cy="22417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302954" y="426002"/>
            <a:ext cx="3363512" cy="336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923378" y="1617613"/>
            <a:ext cx="14441095" cy="7051773"/>
            <a:chOff x="0" y="0"/>
            <a:chExt cx="18758712" cy="9160122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18695212" cy="9096621"/>
            </a:xfrm>
            <a:custGeom>
              <a:avLst/>
              <a:gdLst/>
              <a:ahLst/>
              <a:cxnLst/>
              <a:rect l="l" t="t" r="r" b="b"/>
              <a:pathLst>
                <a:path w="18695212" h="9096621">
                  <a:moveTo>
                    <a:pt x="18602502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8601232" y="0"/>
                  </a:lnTo>
                  <a:cubicBezTo>
                    <a:pt x="18652032" y="0"/>
                    <a:pt x="18693943" y="41910"/>
                    <a:pt x="18693943" y="92710"/>
                  </a:cubicBezTo>
                  <a:lnTo>
                    <a:pt x="18693943" y="9002642"/>
                  </a:lnTo>
                  <a:cubicBezTo>
                    <a:pt x="18695212" y="9054712"/>
                    <a:pt x="18653302" y="9096621"/>
                    <a:pt x="18602502" y="909662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en-GB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8758712" cy="9160121"/>
            </a:xfrm>
            <a:custGeom>
              <a:avLst/>
              <a:gdLst/>
              <a:ahLst/>
              <a:cxnLst/>
              <a:rect l="l" t="t" r="r" b="b"/>
              <a:pathLst>
                <a:path w="18758712" h="9160121">
                  <a:moveTo>
                    <a:pt x="18634252" y="59690"/>
                  </a:moveTo>
                  <a:cubicBezTo>
                    <a:pt x="18669812" y="59690"/>
                    <a:pt x="18699021" y="88900"/>
                    <a:pt x="18699021" y="124460"/>
                  </a:cubicBezTo>
                  <a:lnTo>
                    <a:pt x="18699021" y="9035662"/>
                  </a:lnTo>
                  <a:cubicBezTo>
                    <a:pt x="18699021" y="9071221"/>
                    <a:pt x="18669812" y="9100431"/>
                    <a:pt x="18634252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8634252" y="59690"/>
                  </a:lnTo>
                  <a:moveTo>
                    <a:pt x="18634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18634252" y="9160121"/>
                  </a:lnTo>
                  <a:cubicBezTo>
                    <a:pt x="18702832" y="9160121"/>
                    <a:pt x="18758712" y="9104242"/>
                    <a:pt x="18758712" y="9035662"/>
                  </a:cubicBezTo>
                  <a:lnTo>
                    <a:pt x="18758712" y="124460"/>
                  </a:lnTo>
                  <a:cubicBezTo>
                    <a:pt x="18758712" y="55880"/>
                    <a:pt x="18702832" y="0"/>
                    <a:pt x="1863425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id="21" name="AutoShape 21"/>
          <p:cNvSpPr/>
          <p:nvPr/>
        </p:nvSpPr>
        <p:spPr>
          <a:xfrm>
            <a:off x="1923418" y="2612293"/>
            <a:ext cx="14441095" cy="2381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 rot="-10106257">
            <a:off x="4503954" y="690402"/>
            <a:ext cx="676596" cy="6765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6812148" y="5874679"/>
            <a:ext cx="705891" cy="70589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2894133" y="8859887"/>
            <a:ext cx="1306637" cy="1158173"/>
            <a:chOff x="0" y="0"/>
            <a:chExt cx="558181" cy="4947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8181" cy="494759"/>
            </a:xfrm>
            <a:custGeom>
              <a:avLst/>
              <a:gdLst/>
              <a:ahLst/>
              <a:cxnLst/>
              <a:rect l="l" t="t" r="r" b="b"/>
              <a:pathLst>
                <a:path w="558181" h="494759">
                  <a:moveTo>
                    <a:pt x="279091" y="0"/>
                  </a:moveTo>
                  <a:cubicBezTo>
                    <a:pt x="124953" y="0"/>
                    <a:pt x="0" y="110756"/>
                    <a:pt x="0" y="247379"/>
                  </a:cubicBezTo>
                  <a:cubicBezTo>
                    <a:pt x="0" y="384003"/>
                    <a:pt x="124953" y="494759"/>
                    <a:pt x="279091" y="494759"/>
                  </a:cubicBezTo>
                  <a:cubicBezTo>
                    <a:pt x="433228" y="494759"/>
                    <a:pt x="558181" y="384003"/>
                    <a:pt x="558181" y="247379"/>
                  </a:cubicBezTo>
                  <a:cubicBezTo>
                    <a:pt x="558181" y="110756"/>
                    <a:pt x="433228" y="0"/>
                    <a:pt x="279091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52329" y="-1241"/>
              <a:ext cx="453522" cy="44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1444123" y="8190132"/>
            <a:ext cx="958510" cy="95851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057400" y="3162300"/>
            <a:ext cx="11654155" cy="177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GB" altLang="en-US" sz="7700">
                <a:latin typeface="29LT Adir Semi-Bold" charset="0"/>
                <a:cs typeface="29LT Adir Semi-Bold" charset="0"/>
                <a:sym typeface="+mn-ea"/>
              </a:rPr>
              <a:t>Python-Evaluate Model</a:t>
            </a:r>
            <a:endParaRPr lang="en-US" altLang="en-GB" sz="7700"/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GB" altLang="en-US" sz="770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  <p:grpSp>
        <p:nvGrpSpPr>
          <p:cNvPr id="36" name="Group 8"/>
          <p:cNvGrpSpPr/>
          <p:nvPr/>
        </p:nvGrpSpPr>
        <p:grpSpPr>
          <a:xfrm rot="0">
            <a:off x="14905615" y="2015000"/>
            <a:ext cx="837799" cy="364763"/>
            <a:chOff x="0" y="0"/>
            <a:chExt cx="1117065" cy="486350"/>
          </a:xfrm>
        </p:grpSpPr>
        <p:grpSp>
          <p:nvGrpSpPr>
            <p:cNvPr id="37" name="Group 9"/>
            <p:cNvGrpSpPr/>
            <p:nvPr/>
          </p:nvGrpSpPr>
          <p:grpSpPr>
            <a:xfrm rot="0">
              <a:off x="0" y="0"/>
              <a:ext cx="486350" cy="486350"/>
              <a:chOff x="0" y="0"/>
              <a:chExt cx="812800" cy="812800"/>
            </a:xfrm>
          </p:grpSpPr>
          <p:sp>
            <p:nvSpPr>
              <p:cNvPr id="38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39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0" name="Group 12"/>
            <p:cNvGrpSpPr/>
            <p:nvPr/>
          </p:nvGrpSpPr>
          <p:grpSpPr>
            <a:xfrm rot="0">
              <a:off x="630714" y="0"/>
              <a:ext cx="486350" cy="486350"/>
              <a:chOff x="0" y="0"/>
              <a:chExt cx="812800" cy="812800"/>
            </a:xfrm>
          </p:grpSpPr>
          <p:sp>
            <p:nvSpPr>
              <p:cNvPr id="41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42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1" name="TextBox 35"/>
          <p:cNvSpPr txBox="1"/>
          <p:nvPr/>
        </p:nvSpPr>
        <p:spPr>
          <a:xfrm>
            <a:off x="3124200" y="3913505"/>
            <a:ext cx="12291695" cy="38163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y_pred = model.predict(X_test_vectors)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acc = accuracy_score(y_test, y_pred)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st.subheader("Model Performance")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st.write(f"Test Accuracy: **{acc:.2f}**")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Explanation: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Predicts sentiment on the test set and reports accuracy.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GB" altLang="en-US" sz="280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243697" y="7319270"/>
            <a:ext cx="2241710" cy="22417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302954" y="426002"/>
            <a:ext cx="3363512" cy="336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923378" y="1617613"/>
            <a:ext cx="14441095" cy="7051773"/>
            <a:chOff x="0" y="0"/>
            <a:chExt cx="18758712" cy="9160122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18695212" cy="9096621"/>
            </a:xfrm>
            <a:custGeom>
              <a:avLst/>
              <a:gdLst/>
              <a:ahLst/>
              <a:cxnLst/>
              <a:rect l="l" t="t" r="r" b="b"/>
              <a:pathLst>
                <a:path w="18695212" h="9096621">
                  <a:moveTo>
                    <a:pt x="18602502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8601232" y="0"/>
                  </a:lnTo>
                  <a:cubicBezTo>
                    <a:pt x="18652032" y="0"/>
                    <a:pt x="18693943" y="41910"/>
                    <a:pt x="18693943" y="92710"/>
                  </a:cubicBezTo>
                  <a:lnTo>
                    <a:pt x="18693943" y="9002642"/>
                  </a:lnTo>
                  <a:cubicBezTo>
                    <a:pt x="18695212" y="9054712"/>
                    <a:pt x="18653302" y="9096621"/>
                    <a:pt x="18602502" y="909662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en-GB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8758712" cy="9160121"/>
            </a:xfrm>
            <a:custGeom>
              <a:avLst/>
              <a:gdLst/>
              <a:ahLst/>
              <a:cxnLst/>
              <a:rect l="l" t="t" r="r" b="b"/>
              <a:pathLst>
                <a:path w="18758712" h="9160121">
                  <a:moveTo>
                    <a:pt x="18634252" y="59690"/>
                  </a:moveTo>
                  <a:cubicBezTo>
                    <a:pt x="18669812" y="59690"/>
                    <a:pt x="18699021" y="88900"/>
                    <a:pt x="18699021" y="124460"/>
                  </a:cubicBezTo>
                  <a:lnTo>
                    <a:pt x="18699021" y="9035662"/>
                  </a:lnTo>
                  <a:cubicBezTo>
                    <a:pt x="18699021" y="9071221"/>
                    <a:pt x="18669812" y="9100431"/>
                    <a:pt x="18634252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8634252" y="59690"/>
                  </a:lnTo>
                  <a:moveTo>
                    <a:pt x="18634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18634252" y="9160121"/>
                  </a:lnTo>
                  <a:cubicBezTo>
                    <a:pt x="18702832" y="9160121"/>
                    <a:pt x="18758712" y="9104242"/>
                    <a:pt x="18758712" y="9035662"/>
                  </a:cubicBezTo>
                  <a:lnTo>
                    <a:pt x="18758712" y="124460"/>
                  </a:lnTo>
                  <a:cubicBezTo>
                    <a:pt x="18758712" y="55880"/>
                    <a:pt x="18702832" y="0"/>
                    <a:pt x="1863425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id="21" name="AutoShape 21"/>
          <p:cNvSpPr/>
          <p:nvPr/>
        </p:nvSpPr>
        <p:spPr>
          <a:xfrm>
            <a:off x="1923418" y="2612293"/>
            <a:ext cx="14441095" cy="2381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 rot="-10106257">
            <a:off x="4503954" y="690402"/>
            <a:ext cx="676596" cy="6765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6812148" y="5874679"/>
            <a:ext cx="705891" cy="70589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2894133" y="8859887"/>
            <a:ext cx="1306637" cy="1158173"/>
            <a:chOff x="0" y="0"/>
            <a:chExt cx="558181" cy="4947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8181" cy="494759"/>
            </a:xfrm>
            <a:custGeom>
              <a:avLst/>
              <a:gdLst/>
              <a:ahLst/>
              <a:cxnLst/>
              <a:rect l="l" t="t" r="r" b="b"/>
              <a:pathLst>
                <a:path w="558181" h="494759">
                  <a:moveTo>
                    <a:pt x="279091" y="0"/>
                  </a:moveTo>
                  <a:cubicBezTo>
                    <a:pt x="124953" y="0"/>
                    <a:pt x="0" y="110756"/>
                    <a:pt x="0" y="247379"/>
                  </a:cubicBezTo>
                  <a:cubicBezTo>
                    <a:pt x="0" y="384003"/>
                    <a:pt x="124953" y="494759"/>
                    <a:pt x="279091" y="494759"/>
                  </a:cubicBezTo>
                  <a:cubicBezTo>
                    <a:pt x="433228" y="494759"/>
                    <a:pt x="558181" y="384003"/>
                    <a:pt x="558181" y="247379"/>
                  </a:cubicBezTo>
                  <a:cubicBezTo>
                    <a:pt x="558181" y="110756"/>
                    <a:pt x="433228" y="0"/>
                    <a:pt x="279091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52329" y="-1241"/>
              <a:ext cx="453522" cy="44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1444123" y="8190132"/>
            <a:ext cx="958510" cy="95851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057400" y="3162300"/>
            <a:ext cx="11654155" cy="177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GB" altLang="en-US" sz="7700">
                <a:latin typeface="29LT Adir Semi-Bold" charset="0"/>
                <a:cs typeface="29LT Adir Semi-Bold" charset="0"/>
                <a:sym typeface="+mn-ea"/>
              </a:rPr>
              <a:t>Python-Evaluate Model</a:t>
            </a:r>
            <a:endParaRPr lang="en-US" altLang="en-GB" sz="7700"/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GB" altLang="en-US" sz="770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  <p:grpSp>
        <p:nvGrpSpPr>
          <p:cNvPr id="36" name="Group 8"/>
          <p:cNvGrpSpPr/>
          <p:nvPr/>
        </p:nvGrpSpPr>
        <p:grpSpPr>
          <a:xfrm rot="0">
            <a:off x="14905615" y="2015000"/>
            <a:ext cx="837799" cy="364763"/>
            <a:chOff x="0" y="0"/>
            <a:chExt cx="1117065" cy="486350"/>
          </a:xfrm>
        </p:grpSpPr>
        <p:grpSp>
          <p:nvGrpSpPr>
            <p:cNvPr id="37" name="Group 9"/>
            <p:cNvGrpSpPr/>
            <p:nvPr/>
          </p:nvGrpSpPr>
          <p:grpSpPr>
            <a:xfrm rot="0">
              <a:off x="0" y="0"/>
              <a:ext cx="486350" cy="486350"/>
              <a:chOff x="0" y="0"/>
              <a:chExt cx="812800" cy="812800"/>
            </a:xfrm>
          </p:grpSpPr>
          <p:sp>
            <p:nvSpPr>
              <p:cNvPr id="38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39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0" name="Group 12"/>
            <p:cNvGrpSpPr/>
            <p:nvPr/>
          </p:nvGrpSpPr>
          <p:grpSpPr>
            <a:xfrm rot="0">
              <a:off x="630714" y="0"/>
              <a:ext cx="486350" cy="486350"/>
              <a:chOff x="0" y="0"/>
              <a:chExt cx="812800" cy="812800"/>
            </a:xfrm>
          </p:grpSpPr>
          <p:sp>
            <p:nvSpPr>
              <p:cNvPr id="41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42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1" name="TextBox 35"/>
          <p:cNvSpPr txBox="1"/>
          <p:nvPr/>
        </p:nvSpPr>
        <p:spPr>
          <a:xfrm>
            <a:off x="3124200" y="3913505"/>
            <a:ext cx="12291695" cy="38163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y_pred = model.predict(X_test_vectors)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acc = accuracy_score(y_test, y_pred)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st.subheader("Model Performance")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st.write(f"Test Accuracy: **{acc:.2f}**")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Explanation: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Predicts sentiment on the test set and reports accuracy.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GB" altLang="en-US" sz="280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243697" y="7319270"/>
            <a:ext cx="2241710" cy="22417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302954" y="426002"/>
            <a:ext cx="3363512" cy="336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923378" y="1617613"/>
            <a:ext cx="14441095" cy="7051773"/>
            <a:chOff x="0" y="0"/>
            <a:chExt cx="18758712" cy="9160122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18695212" cy="9096621"/>
            </a:xfrm>
            <a:custGeom>
              <a:avLst/>
              <a:gdLst/>
              <a:ahLst/>
              <a:cxnLst/>
              <a:rect l="l" t="t" r="r" b="b"/>
              <a:pathLst>
                <a:path w="18695212" h="9096621">
                  <a:moveTo>
                    <a:pt x="18602502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8601232" y="0"/>
                  </a:lnTo>
                  <a:cubicBezTo>
                    <a:pt x="18652032" y="0"/>
                    <a:pt x="18693943" y="41910"/>
                    <a:pt x="18693943" y="92710"/>
                  </a:cubicBezTo>
                  <a:lnTo>
                    <a:pt x="18693943" y="9002642"/>
                  </a:lnTo>
                  <a:cubicBezTo>
                    <a:pt x="18695212" y="9054712"/>
                    <a:pt x="18653302" y="9096621"/>
                    <a:pt x="18602502" y="909662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en-GB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8758712" cy="9160121"/>
            </a:xfrm>
            <a:custGeom>
              <a:avLst/>
              <a:gdLst/>
              <a:ahLst/>
              <a:cxnLst/>
              <a:rect l="l" t="t" r="r" b="b"/>
              <a:pathLst>
                <a:path w="18758712" h="9160121">
                  <a:moveTo>
                    <a:pt x="18634252" y="59690"/>
                  </a:moveTo>
                  <a:cubicBezTo>
                    <a:pt x="18669812" y="59690"/>
                    <a:pt x="18699021" y="88900"/>
                    <a:pt x="18699021" y="124460"/>
                  </a:cubicBezTo>
                  <a:lnTo>
                    <a:pt x="18699021" y="9035662"/>
                  </a:lnTo>
                  <a:cubicBezTo>
                    <a:pt x="18699021" y="9071221"/>
                    <a:pt x="18669812" y="9100431"/>
                    <a:pt x="18634252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8634252" y="59690"/>
                  </a:lnTo>
                  <a:moveTo>
                    <a:pt x="18634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18634252" y="9160121"/>
                  </a:lnTo>
                  <a:cubicBezTo>
                    <a:pt x="18702832" y="9160121"/>
                    <a:pt x="18758712" y="9104242"/>
                    <a:pt x="18758712" y="9035662"/>
                  </a:cubicBezTo>
                  <a:lnTo>
                    <a:pt x="18758712" y="124460"/>
                  </a:lnTo>
                  <a:cubicBezTo>
                    <a:pt x="18758712" y="55880"/>
                    <a:pt x="18702832" y="0"/>
                    <a:pt x="1863425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id="21" name="AutoShape 21"/>
          <p:cNvSpPr/>
          <p:nvPr/>
        </p:nvSpPr>
        <p:spPr>
          <a:xfrm>
            <a:off x="1923418" y="2612293"/>
            <a:ext cx="14441095" cy="2381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 rot="-10106257">
            <a:off x="4503954" y="690402"/>
            <a:ext cx="676596" cy="6765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6812148" y="5874679"/>
            <a:ext cx="705891" cy="70589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2894133" y="8859887"/>
            <a:ext cx="1306637" cy="1158173"/>
            <a:chOff x="0" y="0"/>
            <a:chExt cx="558181" cy="4947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8181" cy="494759"/>
            </a:xfrm>
            <a:custGeom>
              <a:avLst/>
              <a:gdLst/>
              <a:ahLst/>
              <a:cxnLst/>
              <a:rect l="l" t="t" r="r" b="b"/>
              <a:pathLst>
                <a:path w="558181" h="494759">
                  <a:moveTo>
                    <a:pt x="279091" y="0"/>
                  </a:moveTo>
                  <a:cubicBezTo>
                    <a:pt x="124953" y="0"/>
                    <a:pt x="0" y="110756"/>
                    <a:pt x="0" y="247379"/>
                  </a:cubicBezTo>
                  <a:cubicBezTo>
                    <a:pt x="0" y="384003"/>
                    <a:pt x="124953" y="494759"/>
                    <a:pt x="279091" y="494759"/>
                  </a:cubicBezTo>
                  <a:cubicBezTo>
                    <a:pt x="433228" y="494759"/>
                    <a:pt x="558181" y="384003"/>
                    <a:pt x="558181" y="247379"/>
                  </a:cubicBezTo>
                  <a:cubicBezTo>
                    <a:pt x="558181" y="110756"/>
                    <a:pt x="433228" y="0"/>
                    <a:pt x="279091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52329" y="-1241"/>
              <a:ext cx="453522" cy="44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1444123" y="8190132"/>
            <a:ext cx="958510" cy="95851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057400" y="3162300"/>
            <a:ext cx="11654155" cy="177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GB" altLang="en-US" sz="7700">
                <a:latin typeface="29LT Adir Semi-Bold" charset="0"/>
                <a:cs typeface="29LT Adir Semi-Bold" charset="0"/>
                <a:sym typeface="+mn-ea"/>
              </a:rPr>
              <a:t>Python-Live User Prediction</a:t>
            </a:r>
            <a:endParaRPr lang="en-US" altLang="en-GB" sz="7700"/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GB" altLang="en-US" sz="770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  <p:grpSp>
        <p:nvGrpSpPr>
          <p:cNvPr id="36" name="Group 8"/>
          <p:cNvGrpSpPr/>
          <p:nvPr/>
        </p:nvGrpSpPr>
        <p:grpSpPr>
          <a:xfrm rot="0">
            <a:off x="14905615" y="2015000"/>
            <a:ext cx="837799" cy="364763"/>
            <a:chOff x="0" y="0"/>
            <a:chExt cx="1117065" cy="486350"/>
          </a:xfrm>
        </p:grpSpPr>
        <p:grpSp>
          <p:nvGrpSpPr>
            <p:cNvPr id="37" name="Group 9"/>
            <p:cNvGrpSpPr/>
            <p:nvPr/>
          </p:nvGrpSpPr>
          <p:grpSpPr>
            <a:xfrm rot="0">
              <a:off x="0" y="0"/>
              <a:ext cx="486350" cy="486350"/>
              <a:chOff x="0" y="0"/>
              <a:chExt cx="812800" cy="812800"/>
            </a:xfrm>
          </p:grpSpPr>
          <p:sp>
            <p:nvSpPr>
              <p:cNvPr id="38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39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0" name="Group 12"/>
            <p:cNvGrpSpPr/>
            <p:nvPr/>
          </p:nvGrpSpPr>
          <p:grpSpPr>
            <a:xfrm rot="0">
              <a:off x="630714" y="0"/>
              <a:ext cx="486350" cy="486350"/>
              <a:chOff x="0" y="0"/>
              <a:chExt cx="812800" cy="812800"/>
            </a:xfrm>
          </p:grpSpPr>
          <p:sp>
            <p:nvSpPr>
              <p:cNvPr id="41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42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1" name="TextBox 35"/>
          <p:cNvSpPr txBox="1"/>
          <p:nvPr/>
        </p:nvSpPr>
        <p:spPr>
          <a:xfrm>
            <a:off x="3086735" y="3924300"/>
            <a:ext cx="12291695" cy="435483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user_input = st.text_area("Enter a tweet text:")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if st.button("Analyze Sentiment"):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    cleaned_input = clean_text(user_input)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    input_vector = vectorizer.transform([cleaned_input])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    prediction = model.predict(input_vector)[0]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    sentiment = "Positive </a:t>
            </a:r>
            <a:r>
              <a:rPr lang="zh-CN" altLang="en-US" sz="2800">
                <a:latin typeface="29LT Adir Semi-Bold" charset="0"/>
                <a:cs typeface="29LT Adir Semi-Bold" charset="0"/>
                <a:sym typeface="+mn-ea"/>
              </a:rPr>
              <a:t>😊</a:t>
            </a: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" if prediction == 1 else "Negative </a:t>
            </a:r>
            <a:r>
              <a:rPr lang="zh-CN" altLang="en-US" sz="2800">
                <a:latin typeface="29LT Adir Semi-Bold" charset="0"/>
                <a:cs typeface="29LT Adir Semi-Bold" charset="0"/>
                <a:sym typeface="+mn-ea"/>
              </a:rPr>
              <a:t>😞</a:t>
            </a: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"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    st.success(f"Predicted Sentiment: **{sentiment}**")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Explanation: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2800">
                <a:latin typeface="29LT Adir Semi-Bold" charset="0"/>
                <a:cs typeface="29LT Adir Semi-Bold" charset="0"/>
                <a:sym typeface="+mn-ea"/>
              </a:rPr>
              <a:t>Allows users to enter custom tweet text and get a sentiment prediction instantly using the trained model.</a:t>
            </a: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endParaRPr lang="en-US" altLang="en-GB" sz="280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endParaRPr lang="en-GB" altLang="en-US" sz="280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A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161152"/>
            <a:ext cx="16230600" cy="8229600"/>
            <a:chOff x="0" y="0"/>
            <a:chExt cx="21083246" cy="10690097"/>
          </a:xfrm>
        </p:grpSpPr>
        <p:sp>
          <p:nvSpPr>
            <p:cNvPr id="3" name="Freeform 3"/>
            <p:cNvSpPr/>
            <p:nvPr/>
          </p:nvSpPr>
          <p:spPr>
            <a:xfrm>
              <a:off x="31750" y="31750"/>
              <a:ext cx="21019746" cy="10626596"/>
            </a:xfrm>
            <a:custGeom>
              <a:avLst/>
              <a:gdLst/>
              <a:ahLst/>
              <a:cxnLst/>
              <a:rect l="l" t="t" r="r" b="b"/>
              <a:pathLst>
                <a:path w="21019746" h="10626596">
                  <a:moveTo>
                    <a:pt x="20927036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0925766" y="0"/>
                  </a:lnTo>
                  <a:cubicBezTo>
                    <a:pt x="20976566" y="0"/>
                    <a:pt x="21018477" y="41910"/>
                    <a:pt x="21018477" y="92710"/>
                  </a:cubicBezTo>
                  <a:lnTo>
                    <a:pt x="21018477" y="10532617"/>
                  </a:lnTo>
                  <a:cubicBezTo>
                    <a:pt x="21019746" y="10584686"/>
                    <a:pt x="20977836" y="10626596"/>
                    <a:pt x="20927036" y="106265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1083246" cy="10690096"/>
            </a:xfrm>
            <a:custGeom>
              <a:avLst/>
              <a:gdLst/>
              <a:ahLst/>
              <a:cxnLst/>
              <a:rect l="l" t="t" r="r" b="b"/>
              <a:pathLst>
                <a:path w="21083246" h="10690096">
                  <a:moveTo>
                    <a:pt x="20958786" y="59690"/>
                  </a:moveTo>
                  <a:cubicBezTo>
                    <a:pt x="20994346" y="59690"/>
                    <a:pt x="21023556" y="88900"/>
                    <a:pt x="21023556" y="124460"/>
                  </a:cubicBezTo>
                  <a:lnTo>
                    <a:pt x="21023556" y="10565636"/>
                  </a:lnTo>
                  <a:cubicBezTo>
                    <a:pt x="21023556" y="10601196"/>
                    <a:pt x="20994346" y="10630406"/>
                    <a:pt x="20958786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0958786" y="59690"/>
                  </a:lnTo>
                  <a:moveTo>
                    <a:pt x="2095878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20958786" y="10690096"/>
                  </a:lnTo>
                  <a:cubicBezTo>
                    <a:pt x="21027366" y="10690096"/>
                    <a:pt x="21083246" y="10634217"/>
                    <a:pt x="21083246" y="10565636"/>
                  </a:cubicBezTo>
                  <a:lnTo>
                    <a:pt x="21083246" y="124460"/>
                  </a:lnTo>
                  <a:cubicBezTo>
                    <a:pt x="21083246" y="55880"/>
                    <a:pt x="21027366" y="0"/>
                    <a:pt x="20958786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id="5" name="Group 5"/>
          <p:cNvGrpSpPr/>
          <p:nvPr/>
        </p:nvGrpSpPr>
        <p:grpSpPr>
          <a:xfrm rot="0">
            <a:off x="15810540" y="1316799"/>
            <a:ext cx="1066685" cy="464416"/>
            <a:chOff x="0" y="0"/>
            <a:chExt cx="1422246" cy="619221"/>
          </a:xfrm>
        </p:grpSpPr>
        <p:grpSp>
          <p:nvGrpSpPr>
            <p:cNvPr id="6" name="Group 6"/>
            <p:cNvGrpSpPr/>
            <p:nvPr/>
          </p:nvGrpSpPr>
          <p:grpSpPr>
            <a:xfrm rot="0">
              <a:off x="0" y="0"/>
              <a:ext cx="619221" cy="61922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803025" y="0"/>
              <a:ext cx="619221" cy="619221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3" name="AutoShape 13"/>
          <p:cNvSpPr/>
          <p:nvPr/>
        </p:nvSpPr>
        <p:spPr>
          <a:xfrm>
            <a:off x="1028700" y="2029334"/>
            <a:ext cx="16230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2" name="Content Placeholder 5" descr="Screenshot 2025-05-06 0101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105" y="2082165"/>
            <a:ext cx="16141065" cy="72834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A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161152"/>
            <a:ext cx="16230600" cy="8229600"/>
            <a:chOff x="0" y="0"/>
            <a:chExt cx="21083246" cy="10690097"/>
          </a:xfrm>
        </p:grpSpPr>
        <p:sp>
          <p:nvSpPr>
            <p:cNvPr id="3" name="Freeform 3"/>
            <p:cNvSpPr/>
            <p:nvPr/>
          </p:nvSpPr>
          <p:spPr>
            <a:xfrm>
              <a:off x="31750" y="31750"/>
              <a:ext cx="21019746" cy="10626596"/>
            </a:xfrm>
            <a:custGeom>
              <a:avLst/>
              <a:gdLst/>
              <a:ahLst/>
              <a:cxnLst/>
              <a:rect l="l" t="t" r="r" b="b"/>
              <a:pathLst>
                <a:path w="21019746" h="10626596">
                  <a:moveTo>
                    <a:pt x="20927036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0925766" y="0"/>
                  </a:lnTo>
                  <a:cubicBezTo>
                    <a:pt x="20976566" y="0"/>
                    <a:pt x="21018477" y="41910"/>
                    <a:pt x="21018477" y="92710"/>
                  </a:cubicBezTo>
                  <a:lnTo>
                    <a:pt x="21018477" y="10532617"/>
                  </a:lnTo>
                  <a:cubicBezTo>
                    <a:pt x="21019746" y="10584686"/>
                    <a:pt x="20977836" y="10626596"/>
                    <a:pt x="20927036" y="106265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1083246" cy="10690096"/>
            </a:xfrm>
            <a:custGeom>
              <a:avLst/>
              <a:gdLst/>
              <a:ahLst/>
              <a:cxnLst/>
              <a:rect l="l" t="t" r="r" b="b"/>
              <a:pathLst>
                <a:path w="21083246" h="10690096">
                  <a:moveTo>
                    <a:pt x="20958786" y="59690"/>
                  </a:moveTo>
                  <a:cubicBezTo>
                    <a:pt x="20994346" y="59690"/>
                    <a:pt x="21023556" y="88900"/>
                    <a:pt x="21023556" y="124460"/>
                  </a:cubicBezTo>
                  <a:lnTo>
                    <a:pt x="21023556" y="10565636"/>
                  </a:lnTo>
                  <a:cubicBezTo>
                    <a:pt x="21023556" y="10601196"/>
                    <a:pt x="20994346" y="10630406"/>
                    <a:pt x="20958786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0958786" y="59690"/>
                  </a:lnTo>
                  <a:moveTo>
                    <a:pt x="2095878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20958786" y="10690096"/>
                  </a:lnTo>
                  <a:cubicBezTo>
                    <a:pt x="21027366" y="10690096"/>
                    <a:pt x="21083246" y="10634217"/>
                    <a:pt x="21083246" y="10565636"/>
                  </a:cubicBezTo>
                  <a:lnTo>
                    <a:pt x="21083246" y="124460"/>
                  </a:lnTo>
                  <a:cubicBezTo>
                    <a:pt x="21083246" y="55880"/>
                    <a:pt x="21027366" y="0"/>
                    <a:pt x="20958786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id="5" name="Group 5"/>
          <p:cNvGrpSpPr/>
          <p:nvPr/>
        </p:nvGrpSpPr>
        <p:grpSpPr>
          <a:xfrm rot="0">
            <a:off x="15810540" y="1316799"/>
            <a:ext cx="1066685" cy="464416"/>
            <a:chOff x="0" y="0"/>
            <a:chExt cx="1422246" cy="619221"/>
          </a:xfrm>
        </p:grpSpPr>
        <p:grpSp>
          <p:nvGrpSpPr>
            <p:cNvPr id="6" name="Group 6"/>
            <p:cNvGrpSpPr/>
            <p:nvPr/>
          </p:nvGrpSpPr>
          <p:grpSpPr>
            <a:xfrm rot="0">
              <a:off x="0" y="0"/>
              <a:ext cx="619221" cy="61922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803025" y="0"/>
              <a:ext cx="619221" cy="619221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3" name="AutoShape 13"/>
          <p:cNvSpPr/>
          <p:nvPr/>
        </p:nvSpPr>
        <p:spPr>
          <a:xfrm>
            <a:off x="1028700" y="2029334"/>
            <a:ext cx="16230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4" name="Content Placeholder 3" descr="Screenshot 2025-05-06 0058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35" y="2049145"/>
            <a:ext cx="16081375" cy="729424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A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161152"/>
            <a:ext cx="16230600" cy="8229600"/>
            <a:chOff x="0" y="0"/>
            <a:chExt cx="21083246" cy="10690097"/>
          </a:xfrm>
        </p:grpSpPr>
        <p:sp>
          <p:nvSpPr>
            <p:cNvPr id="3" name="Freeform 3"/>
            <p:cNvSpPr/>
            <p:nvPr/>
          </p:nvSpPr>
          <p:spPr>
            <a:xfrm>
              <a:off x="31750" y="31750"/>
              <a:ext cx="21019746" cy="10626596"/>
            </a:xfrm>
            <a:custGeom>
              <a:avLst/>
              <a:gdLst/>
              <a:ahLst/>
              <a:cxnLst/>
              <a:rect l="l" t="t" r="r" b="b"/>
              <a:pathLst>
                <a:path w="21019746" h="10626596">
                  <a:moveTo>
                    <a:pt x="20927036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0925766" y="0"/>
                  </a:lnTo>
                  <a:cubicBezTo>
                    <a:pt x="20976566" y="0"/>
                    <a:pt x="21018477" y="41910"/>
                    <a:pt x="21018477" y="92710"/>
                  </a:cubicBezTo>
                  <a:lnTo>
                    <a:pt x="21018477" y="10532617"/>
                  </a:lnTo>
                  <a:cubicBezTo>
                    <a:pt x="21019746" y="10584686"/>
                    <a:pt x="20977836" y="10626596"/>
                    <a:pt x="20927036" y="106265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1083246" cy="10690096"/>
            </a:xfrm>
            <a:custGeom>
              <a:avLst/>
              <a:gdLst/>
              <a:ahLst/>
              <a:cxnLst/>
              <a:rect l="l" t="t" r="r" b="b"/>
              <a:pathLst>
                <a:path w="21083246" h="10690096">
                  <a:moveTo>
                    <a:pt x="20958786" y="59690"/>
                  </a:moveTo>
                  <a:cubicBezTo>
                    <a:pt x="20994346" y="59690"/>
                    <a:pt x="21023556" y="88900"/>
                    <a:pt x="21023556" y="124460"/>
                  </a:cubicBezTo>
                  <a:lnTo>
                    <a:pt x="21023556" y="10565636"/>
                  </a:lnTo>
                  <a:cubicBezTo>
                    <a:pt x="21023556" y="10601196"/>
                    <a:pt x="20994346" y="10630406"/>
                    <a:pt x="20958786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0958786" y="59690"/>
                  </a:lnTo>
                  <a:moveTo>
                    <a:pt x="2095878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20958786" y="10690096"/>
                  </a:lnTo>
                  <a:cubicBezTo>
                    <a:pt x="21027366" y="10690096"/>
                    <a:pt x="21083246" y="10634217"/>
                    <a:pt x="21083246" y="10565636"/>
                  </a:cubicBezTo>
                  <a:lnTo>
                    <a:pt x="21083246" y="124460"/>
                  </a:lnTo>
                  <a:cubicBezTo>
                    <a:pt x="21083246" y="55880"/>
                    <a:pt x="21027366" y="0"/>
                    <a:pt x="20958786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id="5" name="Group 5"/>
          <p:cNvGrpSpPr/>
          <p:nvPr/>
        </p:nvGrpSpPr>
        <p:grpSpPr>
          <a:xfrm rot="0">
            <a:off x="15810540" y="1316799"/>
            <a:ext cx="1066685" cy="464416"/>
            <a:chOff x="0" y="0"/>
            <a:chExt cx="1422246" cy="619221"/>
          </a:xfrm>
        </p:grpSpPr>
        <p:grpSp>
          <p:nvGrpSpPr>
            <p:cNvPr id="6" name="Group 6"/>
            <p:cNvGrpSpPr/>
            <p:nvPr/>
          </p:nvGrpSpPr>
          <p:grpSpPr>
            <a:xfrm rot="0">
              <a:off x="0" y="0"/>
              <a:ext cx="619221" cy="61922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803025" y="0"/>
              <a:ext cx="619221" cy="619221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3" name="AutoShape 13"/>
          <p:cNvSpPr/>
          <p:nvPr/>
        </p:nvSpPr>
        <p:spPr>
          <a:xfrm>
            <a:off x="1028700" y="2029334"/>
            <a:ext cx="16230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2" name="Content Placeholder 3" descr="Screenshot 2025-05-06 0058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0" y="2055495"/>
            <a:ext cx="16156305" cy="73355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A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161152"/>
            <a:ext cx="16230600" cy="8229600"/>
            <a:chOff x="0" y="0"/>
            <a:chExt cx="21083246" cy="10690097"/>
          </a:xfrm>
        </p:grpSpPr>
        <p:sp>
          <p:nvSpPr>
            <p:cNvPr id="3" name="Freeform 3"/>
            <p:cNvSpPr/>
            <p:nvPr/>
          </p:nvSpPr>
          <p:spPr>
            <a:xfrm>
              <a:off x="31750" y="31750"/>
              <a:ext cx="21019746" cy="10626596"/>
            </a:xfrm>
            <a:custGeom>
              <a:avLst/>
              <a:gdLst/>
              <a:ahLst/>
              <a:cxnLst/>
              <a:rect l="l" t="t" r="r" b="b"/>
              <a:pathLst>
                <a:path w="21019746" h="10626596">
                  <a:moveTo>
                    <a:pt x="20927036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0925766" y="0"/>
                  </a:lnTo>
                  <a:cubicBezTo>
                    <a:pt x="20976566" y="0"/>
                    <a:pt x="21018477" y="41910"/>
                    <a:pt x="21018477" y="92710"/>
                  </a:cubicBezTo>
                  <a:lnTo>
                    <a:pt x="21018477" y="10532617"/>
                  </a:lnTo>
                  <a:cubicBezTo>
                    <a:pt x="21019746" y="10584686"/>
                    <a:pt x="20977836" y="10626596"/>
                    <a:pt x="20927036" y="106265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1083246" cy="10690096"/>
            </a:xfrm>
            <a:custGeom>
              <a:avLst/>
              <a:gdLst/>
              <a:ahLst/>
              <a:cxnLst/>
              <a:rect l="l" t="t" r="r" b="b"/>
              <a:pathLst>
                <a:path w="21083246" h="10690096">
                  <a:moveTo>
                    <a:pt x="20958786" y="59690"/>
                  </a:moveTo>
                  <a:cubicBezTo>
                    <a:pt x="20994346" y="59690"/>
                    <a:pt x="21023556" y="88900"/>
                    <a:pt x="21023556" y="124460"/>
                  </a:cubicBezTo>
                  <a:lnTo>
                    <a:pt x="21023556" y="10565636"/>
                  </a:lnTo>
                  <a:cubicBezTo>
                    <a:pt x="21023556" y="10601196"/>
                    <a:pt x="20994346" y="10630406"/>
                    <a:pt x="20958786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0958786" y="59690"/>
                  </a:lnTo>
                  <a:moveTo>
                    <a:pt x="2095878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20958786" y="10690096"/>
                  </a:lnTo>
                  <a:cubicBezTo>
                    <a:pt x="21027366" y="10690096"/>
                    <a:pt x="21083246" y="10634217"/>
                    <a:pt x="21083246" y="10565636"/>
                  </a:cubicBezTo>
                  <a:lnTo>
                    <a:pt x="21083246" y="124460"/>
                  </a:lnTo>
                  <a:cubicBezTo>
                    <a:pt x="21083246" y="55880"/>
                    <a:pt x="21027366" y="0"/>
                    <a:pt x="20958786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id="5" name="Group 5"/>
          <p:cNvGrpSpPr/>
          <p:nvPr/>
        </p:nvGrpSpPr>
        <p:grpSpPr>
          <a:xfrm rot="0">
            <a:off x="15810540" y="1316799"/>
            <a:ext cx="1066685" cy="464416"/>
            <a:chOff x="0" y="0"/>
            <a:chExt cx="1422246" cy="619221"/>
          </a:xfrm>
        </p:grpSpPr>
        <p:grpSp>
          <p:nvGrpSpPr>
            <p:cNvPr id="6" name="Group 6"/>
            <p:cNvGrpSpPr/>
            <p:nvPr/>
          </p:nvGrpSpPr>
          <p:grpSpPr>
            <a:xfrm rot="0">
              <a:off x="0" y="0"/>
              <a:ext cx="619221" cy="61922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803025" y="0"/>
              <a:ext cx="619221" cy="619221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3" name="AutoShape 13"/>
          <p:cNvSpPr/>
          <p:nvPr/>
        </p:nvSpPr>
        <p:spPr>
          <a:xfrm>
            <a:off x="1028700" y="2029334"/>
            <a:ext cx="16230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4" name="Content Placeholder 3" descr="Screenshot 2025-05-06 0058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935" y="2070100"/>
            <a:ext cx="16071215" cy="726059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A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161152"/>
            <a:ext cx="16230600" cy="8229600"/>
            <a:chOff x="0" y="0"/>
            <a:chExt cx="21083246" cy="10690097"/>
          </a:xfrm>
        </p:grpSpPr>
        <p:sp>
          <p:nvSpPr>
            <p:cNvPr id="3" name="Freeform 3"/>
            <p:cNvSpPr/>
            <p:nvPr/>
          </p:nvSpPr>
          <p:spPr>
            <a:xfrm>
              <a:off x="31750" y="31750"/>
              <a:ext cx="21019746" cy="10626596"/>
            </a:xfrm>
            <a:custGeom>
              <a:avLst/>
              <a:gdLst/>
              <a:ahLst/>
              <a:cxnLst/>
              <a:rect l="l" t="t" r="r" b="b"/>
              <a:pathLst>
                <a:path w="21019746" h="10626596">
                  <a:moveTo>
                    <a:pt x="20927036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0925766" y="0"/>
                  </a:lnTo>
                  <a:cubicBezTo>
                    <a:pt x="20976566" y="0"/>
                    <a:pt x="21018477" y="41910"/>
                    <a:pt x="21018477" y="92710"/>
                  </a:cubicBezTo>
                  <a:lnTo>
                    <a:pt x="21018477" y="10532617"/>
                  </a:lnTo>
                  <a:cubicBezTo>
                    <a:pt x="21019746" y="10584686"/>
                    <a:pt x="20977836" y="10626596"/>
                    <a:pt x="20927036" y="106265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1083246" cy="10690096"/>
            </a:xfrm>
            <a:custGeom>
              <a:avLst/>
              <a:gdLst/>
              <a:ahLst/>
              <a:cxnLst/>
              <a:rect l="l" t="t" r="r" b="b"/>
              <a:pathLst>
                <a:path w="21083246" h="10690096">
                  <a:moveTo>
                    <a:pt x="20958786" y="59690"/>
                  </a:moveTo>
                  <a:cubicBezTo>
                    <a:pt x="20994346" y="59690"/>
                    <a:pt x="21023556" y="88900"/>
                    <a:pt x="21023556" y="124460"/>
                  </a:cubicBezTo>
                  <a:lnTo>
                    <a:pt x="21023556" y="10565636"/>
                  </a:lnTo>
                  <a:cubicBezTo>
                    <a:pt x="21023556" y="10601196"/>
                    <a:pt x="20994346" y="10630406"/>
                    <a:pt x="20958786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0958786" y="59690"/>
                  </a:lnTo>
                  <a:moveTo>
                    <a:pt x="2095878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20958786" y="10690096"/>
                  </a:lnTo>
                  <a:cubicBezTo>
                    <a:pt x="21027366" y="10690096"/>
                    <a:pt x="21083246" y="10634217"/>
                    <a:pt x="21083246" y="10565636"/>
                  </a:cubicBezTo>
                  <a:lnTo>
                    <a:pt x="21083246" y="124460"/>
                  </a:lnTo>
                  <a:cubicBezTo>
                    <a:pt x="21083246" y="55880"/>
                    <a:pt x="21027366" y="0"/>
                    <a:pt x="20958786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id="5" name="Group 5"/>
          <p:cNvGrpSpPr/>
          <p:nvPr/>
        </p:nvGrpSpPr>
        <p:grpSpPr>
          <a:xfrm rot="0">
            <a:off x="15810540" y="1316799"/>
            <a:ext cx="1066685" cy="464416"/>
            <a:chOff x="0" y="0"/>
            <a:chExt cx="1422246" cy="619221"/>
          </a:xfrm>
        </p:grpSpPr>
        <p:grpSp>
          <p:nvGrpSpPr>
            <p:cNvPr id="6" name="Group 6"/>
            <p:cNvGrpSpPr/>
            <p:nvPr/>
          </p:nvGrpSpPr>
          <p:grpSpPr>
            <a:xfrm rot="0">
              <a:off x="0" y="0"/>
              <a:ext cx="619221" cy="61922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803025" y="0"/>
              <a:ext cx="619221" cy="619221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3" name="AutoShape 13"/>
          <p:cNvSpPr/>
          <p:nvPr/>
        </p:nvSpPr>
        <p:spPr>
          <a:xfrm>
            <a:off x="1028700" y="2029334"/>
            <a:ext cx="16230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2" name="Content Placeholder 3" descr="Screenshot 2025-05-06 0058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340" y="2060575"/>
            <a:ext cx="16120745" cy="729424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A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161152"/>
            <a:ext cx="16230600" cy="8229600"/>
            <a:chOff x="0" y="0"/>
            <a:chExt cx="21083246" cy="10690097"/>
          </a:xfrm>
        </p:grpSpPr>
        <p:sp>
          <p:nvSpPr>
            <p:cNvPr id="3" name="Freeform 3"/>
            <p:cNvSpPr/>
            <p:nvPr/>
          </p:nvSpPr>
          <p:spPr>
            <a:xfrm>
              <a:off x="31750" y="31750"/>
              <a:ext cx="21019746" cy="10626596"/>
            </a:xfrm>
            <a:custGeom>
              <a:avLst/>
              <a:gdLst/>
              <a:ahLst/>
              <a:cxnLst/>
              <a:rect l="l" t="t" r="r" b="b"/>
              <a:pathLst>
                <a:path w="21019746" h="10626596">
                  <a:moveTo>
                    <a:pt x="20927036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0925766" y="0"/>
                  </a:lnTo>
                  <a:cubicBezTo>
                    <a:pt x="20976566" y="0"/>
                    <a:pt x="21018477" y="41910"/>
                    <a:pt x="21018477" y="92710"/>
                  </a:cubicBezTo>
                  <a:lnTo>
                    <a:pt x="21018477" y="10532617"/>
                  </a:lnTo>
                  <a:cubicBezTo>
                    <a:pt x="21019746" y="10584686"/>
                    <a:pt x="20977836" y="10626596"/>
                    <a:pt x="20927036" y="106265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1083246" cy="10690096"/>
            </a:xfrm>
            <a:custGeom>
              <a:avLst/>
              <a:gdLst/>
              <a:ahLst/>
              <a:cxnLst/>
              <a:rect l="l" t="t" r="r" b="b"/>
              <a:pathLst>
                <a:path w="21083246" h="10690096">
                  <a:moveTo>
                    <a:pt x="20958786" y="59690"/>
                  </a:moveTo>
                  <a:cubicBezTo>
                    <a:pt x="20994346" y="59690"/>
                    <a:pt x="21023556" y="88900"/>
                    <a:pt x="21023556" y="124460"/>
                  </a:cubicBezTo>
                  <a:lnTo>
                    <a:pt x="21023556" y="10565636"/>
                  </a:lnTo>
                  <a:cubicBezTo>
                    <a:pt x="21023556" y="10601196"/>
                    <a:pt x="20994346" y="10630406"/>
                    <a:pt x="20958786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0958786" y="59690"/>
                  </a:lnTo>
                  <a:moveTo>
                    <a:pt x="2095878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20958786" y="10690096"/>
                  </a:lnTo>
                  <a:cubicBezTo>
                    <a:pt x="21027366" y="10690096"/>
                    <a:pt x="21083246" y="10634217"/>
                    <a:pt x="21083246" y="10565636"/>
                  </a:cubicBezTo>
                  <a:lnTo>
                    <a:pt x="21083246" y="124460"/>
                  </a:lnTo>
                  <a:cubicBezTo>
                    <a:pt x="21083246" y="55880"/>
                    <a:pt x="21027366" y="0"/>
                    <a:pt x="20958786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id="5" name="Group 5"/>
          <p:cNvGrpSpPr/>
          <p:nvPr/>
        </p:nvGrpSpPr>
        <p:grpSpPr>
          <a:xfrm rot="0">
            <a:off x="15810540" y="1316799"/>
            <a:ext cx="1066685" cy="464416"/>
            <a:chOff x="0" y="0"/>
            <a:chExt cx="1422246" cy="619221"/>
          </a:xfrm>
        </p:grpSpPr>
        <p:grpSp>
          <p:nvGrpSpPr>
            <p:cNvPr id="6" name="Group 6"/>
            <p:cNvGrpSpPr/>
            <p:nvPr/>
          </p:nvGrpSpPr>
          <p:grpSpPr>
            <a:xfrm rot="0">
              <a:off x="0" y="0"/>
              <a:ext cx="619221" cy="61922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803025" y="0"/>
              <a:ext cx="619221" cy="619221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3" name="AutoShape 13"/>
          <p:cNvSpPr/>
          <p:nvPr/>
        </p:nvSpPr>
        <p:spPr>
          <a:xfrm>
            <a:off x="1028700" y="2029334"/>
            <a:ext cx="16230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4" name="Content Placeholder 3" descr="Screenshot 2025-05-06 0101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35" y="2045970"/>
            <a:ext cx="16106140" cy="721169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A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161152"/>
            <a:ext cx="16230600" cy="8229600"/>
            <a:chOff x="0" y="0"/>
            <a:chExt cx="21083246" cy="10690097"/>
          </a:xfrm>
        </p:grpSpPr>
        <p:sp>
          <p:nvSpPr>
            <p:cNvPr id="3" name="Freeform 3"/>
            <p:cNvSpPr/>
            <p:nvPr/>
          </p:nvSpPr>
          <p:spPr>
            <a:xfrm>
              <a:off x="31750" y="31750"/>
              <a:ext cx="21019746" cy="10626596"/>
            </a:xfrm>
            <a:custGeom>
              <a:avLst/>
              <a:gdLst/>
              <a:ahLst/>
              <a:cxnLst/>
              <a:rect l="l" t="t" r="r" b="b"/>
              <a:pathLst>
                <a:path w="21019746" h="10626596">
                  <a:moveTo>
                    <a:pt x="20927036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0925766" y="0"/>
                  </a:lnTo>
                  <a:cubicBezTo>
                    <a:pt x="20976566" y="0"/>
                    <a:pt x="21018477" y="41910"/>
                    <a:pt x="21018477" y="92710"/>
                  </a:cubicBezTo>
                  <a:lnTo>
                    <a:pt x="21018477" y="10532617"/>
                  </a:lnTo>
                  <a:cubicBezTo>
                    <a:pt x="21019746" y="10584686"/>
                    <a:pt x="20977836" y="10626596"/>
                    <a:pt x="20927036" y="106265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1083246" cy="10690096"/>
            </a:xfrm>
            <a:custGeom>
              <a:avLst/>
              <a:gdLst/>
              <a:ahLst/>
              <a:cxnLst/>
              <a:rect l="l" t="t" r="r" b="b"/>
              <a:pathLst>
                <a:path w="21083246" h="10690096">
                  <a:moveTo>
                    <a:pt x="20958786" y="59690"/>
                  </a:moveTo>
                  <a:cubicBezTo>
                    <a:pt x="20994346" y="59690"/>
                    <a:pt x="21023556" y="88900"/>
                    <a:pt x="21023556" y="124460"/>
                  </a:cubicBezTo>
                  <a:lnTo>
                    <a:pt x="21023556" y="10565636"/>
                  </a:lnTo>
                  <a:cubicBezTo>
                    <a:pt x="21023556" y="10601196"/>
                    <a:pt x="20994346" y="10630406"/>
                    <a:pt x="20958786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0958786" y="59690"/>
                  </a:lnTo>
                  <a:moveTo>
                    <a:pt x="2095878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20958786" y="10690096"/>
                  </a:lnTo>
                  <a:cubicBezTo>
                    <a:pt x="21027366" y="10690096"/>
                    <a:pt x="21083246" y="10634217"/>
                    <a:pt x="21083246" y="10565636"/>
                  </a:cubicBezTo>
                  <a:lnTo>
                    <a:pt x="21083246" y="124460"/>
                  </a:lnTo>
                  <a:cubicBezTo>
                    <a:pt x="21083246" y="55880"/>
                    <a:pt x="21027366" y="0"/>
                    <a:pt x="20958786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id="5" name="Group 5"/>
          <p:cNvGrpSpPr/>
          <p:nvPr/>
        </p:nvGrpSpPr>
        <p:grpSpPr>
          <a:xfrm rot="0">
            <a:off x="15810540" y="1316799"/>
            <a:ext cx="1066685" cy="464416"/>
            <a:chOff x="0" y="0"/>
            <a:chExt cx="1422246" cy="619221"/>
          </a:xfrm>
        </p:grpSpPr>
        <p:grpSp>
          <p:nvGrpSpPr>
            <p:cNvPr id="6" name="Group 6"/>
            <p:cNvGrpSpPr/>
            <p:nvPr/>
          </p:nvGrpSpPr>
          <p:grpSpPr>
            <a:xfrm rot="0">
              <a:off x="0" y="0"/>
              <a:ext cx="619221" cy="61922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803025" y="0"/>
              <a:ext cx="619221" cy="619221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3" name="AutoShape 13"/>
          <p:cNvSpPr/>
          <p:nvPr/>
        </p:nvSpPr>
        <p:spPr>
          <a:xfrm>
            <a:off x="1028700" y="2029334"/>
            <a:ext cx="16230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7"/>
          <p:cNvSpPr txBox="1"/>
          <p:nvPr/>
        </p:nvSpPr>
        <p:spPr>
          <a:xfrm>
            <a:off x="1676400" y="4838700"/>
            <a:ext cx="13722350" cy="173101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marL="377190" lvl="1" indent="0" algn="ctr">
              <a:lnSpc>
                <a:spcPts val="4885"/>
              </a:lnSpc>
              <a:buFont typeface="Arial" panose="020B0604020202020204"/>
              <a:buNone/>
            </a:pPr>
            <a:r>
              <a:rPr lang="en-GB" altLang="en-US" sz="100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R</a:t>
            </a:r>
            <a:endParaRPr lang="en-GB" altLang="en-US" sz="100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  <p:pic>
        <p:nvPicPr>
          <p:cNvPr id="14" name="Picture 13" descr="Decorate laptops, Hydro Flasks, cars and more with…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440" y="1223645"/>
            <a:ext cx="78676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243697" y="7319270"/>
            <a:ext cx="2241710" cy="22417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302954" y="426002"/>
            <a:ext cx="3363512" cy="336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923378" y="1617613"/>
            <a:ext cx="14441095" cy="7051773"/>
            <a:chOff x="0" y="0"/>
            <a:chExt cx="18758712" cy="9160122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18695212" cy="9096621"/>
            </a:xfrm>
            <a:custGeom>
              <a:avLst/>
              <a:gdLst/>
              <a:ahLst/>
              <a:cxnLst/>
              <a:rect l="l" t="t" r="r" b="b"/>
              <a:pathLst>
                <a:path w="18695212" h="9096621">
                  <a:moveTo>
                    <a:pt x="18602502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8601232" y="0"/>
                  </a:lnTo>
                  <a:cubicBezTo>
                    <a:pt x="18652032" y="0"/>
                    <a:pt x="18693943" y="41910"/>
                    <a:pt x="18693943" y="92710"/>
                  </a:cubicBezTo>
                  <a:lnTo>
                    <a:pt x="18693943" y="9002642"/>
                  </a:lnTo>
                  <a:cubicBezTo>
                    <a:pt x="18695212" y="9054712"/>
                    <a:pt x="18653302" y="9096621"/>
                    <a:pt x="18602502" y="909662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en-GB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8758712" cy="9160121"/>
            </a:xfrm>
            <a:custGeom>
              <a:avLst/>
              <a:gdLst/>
              <a:ahLst/>
              <a:cxnLst/>
              <a:rect l="l" t="t" r="r" b="b"/>
              <a:pathLst>
                <a:path w="18758712" h="9160121">
                  <a:moveTo>
                    <a:pt x="18634252" y="59690"/>
                  </a:moveTo>
                  <a:cubicBezTo>
                    <a:pt x="18669812" y="59690"/>
                    <a:pt x="18699021" y="88900"/>
                    <a:pt x="18699021" y="124460"/>
                  </a:cubicBezTo>
                  <a:lnTo>
                    <a:pt x="18699021" y="9035662"/>
                  </a:lnTo>
                  <a:cubicBezTo>
                    <a:pt x="18699021" y="9071221"/>
                    <a:pt x="18669812" y="9100431"/>
                    <a:pt x="18634252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8634252" y="59690"/>
                  </a:lnTo>
                  <a:moveTo>
                    <a:pt x="18634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18634252" y="9160121"/>
                  </a:lnTo>
                  <a:cubicBezTo>
                    <a:pt x="18702832" y="9160121"/>
                    <a:pt x="18758712" y="9104242"/>
                    <a:pt x="18758712" y="9035662"/>
                  </a:cubicBezTo>
                  <a:lnTo>
                    <a:pt x="18758712" y="124460"/>
                  </a:lnTo>
                  <a:cubicBezTo>
                    <a:pt x="18758712" y="55880"/>
                    <a:pt x="18702832" y="0"/>
                    <a:pt x="1863425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id="21" name="AutoShape 21"/>
          <p:cNvSpPr/>
          <p:nvPr/>
        </p:nvSpPr>
        <p:spPr>
          <a:xfrm>
            <a:off x="1923418" y="2612293"/>
            <a:ext cx="14441095" cy="2381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 rot="-10106257">
            <a:off x="4503954" y="690402"/>
            <a:ext cx="676596" cy="6765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6812148" y="5874679"/>
            <a:ext cx="705891" cy="70589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2894133" y="8859887"/>
            <a:ext cx="1306637" cy="1158173"/>
            <a:chOff x="0" y="0"/>
            <a:chExt cx="558181" cy="4947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8181" cy="494759"/>
            </a:xfrm>
            <a:custGeom>
              <a:avLst/>
              <a:gdLst/>
              <a:ahLst/>
              <a:cxnLst/>
              <a:rect l="l" t="t" r="r" b="b"/>
              <a:pathLst>
                <a:path w="558181" h="494759">
                  <a:moveTo>
                    <a:pt x="279091" y="0"/>
                  </a:moveTo>
                  <a:cubicBezTo>
                    <a:pt x="124953" y="0"/>
                    <a:pt x="0" y="110756"/>
                    <a:pt x="0" y="247379"/>
                  </a:cubicBezTo>
                  <a:cubicBezTo>
                    <a:pt x="0" y="384003"/>
                    <a:pt x="124953" y="494759"/>
                    <a:pt x="279091" y="494759"/>
                  </a:cubicBezTo>
                  <a:cubicBezTo>
                    <a:pt x="433228" y="494759"/>
                    <a:pt x="558181" y="384003"/>
                    <a:pt x="558181" y="247379"/>
                  </a:cubicBezTo>
                  <a:cubicBezTo>
                    <a:pt x="558181" y="110756"/>
                    <a:pt x="433228" y="0"/>
                    <a:pt x="279091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52329" y="-1241"/>
              <a:ext cx="453522" cy="44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1444123" y="8190132"/>
            <a:ext cx="958510" cy="95851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057400" y="3162300"/>
            <a:ext cx="11654155" cy="177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GB" altLang="en-US" sz="7700">
                <a:latin typeface="29LT Adir Semi-Bold" charset="0"/>
                <a:cs typeface="29LT Adir Semi-Bold" charset="0"/>
                <a:sym typeface="+mn-ea"/>
              </a:rPr>
              <a:t>R-</a:t>
            </a:r>
            <a:r>
              <a:rPr lang="en-US" altLang="en-GB" sz="7700">
                <a:latin typeface="29LT Adir Semi-Bold" charset="0"/>
                <a:cs typeface="29LT Adir Semi-Bold" charset="0"/>
                <a:sym typeface="+mn-ea"/>
              </a:rPr>
              <a:t>Read the Dataset</a:t>
            </a:r>
            <a:endParaRPr lang="en-US" altLang="en-GB" sz="7700"/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GB" altLang="en-US" sz="770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  <p:grpSp>
        <p:nvGrpSpPr>
          <p:cNvPr id="36" name="Group 8"/>
          <p:cNvGrpSpPr/>
          <p:nvPr/>
        </p:nvGrpSpPr>
        <p:grpSpPr>
          <a:xfrm rot="0">
            <a:off x="14905615" y="2015000"/>
            <a:ext cx="837799" cy="364763"/>
            <a:chOff x="0" y="0"/>
            <a:chExt cx="1117065" cy="486350"/>
          </a:xfrm>
        </p:grpSpPr>
        <p:grpSp>
          <p:nvGrpSpPr>
            <p:cNvPr id="37" name="Group 9"/>
            <p:cNvGrpSpPr/>
            <p:nvPr/>
          </p:nvGrpSpPr>
          <p:grpSpPr>
            <a:xfrm rot="0">
              <a:off x="0" y="0"/>
              <a:ext cx="486350" cy="486350"/>
              <a:chOff x="0" y="0"/>
              <a:chExt cx="812800" cy="812800"/>
            </a:xfrm>
          </p:grpSpPr>
          <p:sp>
            <p:nvSpPr>
              <p:cNvPr id="38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39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0" name="Group 12"/>
            <p:cNvGrpSpPr/>
            <p:nvPr/>
          </p:nvGrpSpPr>
          <p:grpSpPr>
            <a:xfrm rot="0">
              <a:off x="630714" y="0"/>
              <a:ext cx="486350" cy="486350"/>
              <a:chOff x="0" y="0"/>
              <a:chExt cx="812800" cy="812800"/>
            </a:xfrm>
          </p:grpSpPr>
          <p:sp>
            <p:nvSpPr>
              <p:cNvPr id="41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42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1" name="TextBox 35"/>
          <p:cNvSpPr txBox="1"/>
          <p:nvPr/>
        </p:nvSpPr>
        <p:spPr>
          <a:xfrm>
            <a:off x="3124200" y="3913505"/>
            <a:ext cx="12291695" cy="38163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  <a:sym typeface="+mn-ea"/>
              </a:rPr>
              <a:t># </a:t>
            </a:r>
            <a:r>
              <a:rPr lang="en-GB" altLang="en-US" sz="3490">
                <a:latin typeface="29LT Adir Semi-Bold" charset="0"/>
                <a:cs typeface="29LT Adir Semi-Bold" charset="0"/>
                <a:sym typeface="+mn-ea"/>
              </a:rPr>
              <a:t>3</a:t>
            </a:r>
            <a:r>
              <a:rPr lang="en-US" altLang="en-GB" sz="3490">
                <a:latin typeface="29LT Adir Semi-Bold" charset="0"/>
                <a:cs typeface="29LT Adir Semi-Bold" charset="0"/>
                <a:sym typeface="+mn-ea"/>
              </a:rPr>
              <a:t>. Read the dataset (adjust the path to your CSV)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  <a:sym typeface="+mn-ea"/>
              </a:rPr>
              <a:t># Columns: sentiment, id, date, query, user, text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  <a:sym typeface="+mn-ea"/>
              </a:rPr>
              <a:t>df &lt;- read_csv("C:/Users/abdul/Downloads/training.1600000.processed.noemoticon.csv",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  <a:sym typeface="+mn-ea"/>
              </a:rPr>
              <a:t>               col_names = c("sentiment", "id", "date", "query", "user", "text"))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</a:rPr>
              <a:t>Explanation: Reads a CSV file into a tibble (data frame) with defined column names.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GB" altLang="en-US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243697" y="7319270"/>
            <a:ext cx="2241710" cy="22417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302954" y="426002"/>
            <a:ext cx="3363512" cy="336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923378" y="1617613"/>
            <a:ext cx="14441095" cy="7051773"/>
            <a:chOff x="0" y="0"/>
            <a:chExt cx="18758712" cy="9160122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18695212" cy="9096621"/>
            </a:xfrm>
            <a:custGeom>
              <a:avLst/>
              <a:gdLst/>
              <a:ahLst/>
              <a:cxnLst/>
              <a:rect l="l" t="t" r="r" b="b"/>
              <a:pathLst>
                <a:path w="18695212" h="9096621">
                  <a:moveTo>
                    <a:pt x="18602502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8601232" y="0"/>
                  </a:lnTo>
                  <a:cubicBezTo>
                    <a:pt x="18652032" y="0"/>
                    <a:pt x="18693943" y="41910"/>
                    <a:pt x="18693943" y="92710"/>
                  </a:cubicBezTo>
                  <a:lnTo>
                    <a:pt x="18693943" y="9002642"/>
                  </a:lnTo>
                  <a:cubicBezTo>
                    <a:pt x="18695212" y="9054712"/>
                    <a:pt x="18653302" y="9096621"/>
                    <a:pt x="18602502" y="909662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en-GB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8758712" cy="9160121"/>
            </a:xfrm>
            <a:custGeom>
              <a:avLst/>
              <a:gdLst/>
              <a:ahLst/>
              <a:cxnLst/>
              <a:rect l="l" t="t" r="r" b="b"/>
              <a:pathLst>
                <a:path w="18758712" h="9160121">
                  <a:moveTo>
                    <a:pt x="18634252" y="59690"/>
                  </a:moveTo>
                  <a:cubicBezTo>
                    <a:pt x="18669812" y="59690"/>
                    <a:pt x="18699021" y="88900"/>
                    <a:pt x="18699021" y="124460"/>
                  </a:cubicBezTo>
                  <a:lnTo>
                    <a:pt x="18699021" y="9035662"/>
                  </a:lnTo>
                  <a:cubicBezTo>
                    <a:pt x="18699021" y="9071221"/>
                    <a:pt x="18669812" y="9100431"/>
                    <a:pt x="18634252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8634252" y="59690"/>
                  </a:lnTo>
                  <a:moveTo>
                    <a:pt x="18634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18634252" y="9160121"/>
                  </a:lnTo>
                  <a:cubicBezTo>
                    <a:pt x="18702832" y="9160121"/>
                    <a:pt x="18758712" y="9104242"/>
                    <a:pt x="18758712" y="9035662"/>
                  </a:cubicBezTo>
                  <a:lnTo>
                    <a:pt x="18758712" y="124460"/>
                  </a:lnTo>
                  <a:cubicBezTo>
                    <a:pt x="18758712" y="55880"/>
                    <a:pt x="18702832" y="0"/>
                    <a:pt x="1863425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id="21" name="AutoShape 21"/>
          <p:cNvSpPr/>
          <p:nvPr/>
        </p:nvSpPr>
        <p:spPr>
          <a:xfrm>
            <a:off x="1923418" y="2612293"/>
            <a:ext cx="14441095" cy="2381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 rot="-10106257">
            <a:off x="4503954" y="690402"/>
            <a:ext cx="676596" cy="6765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6812148" y="5874679"/>
            <a:ext cx="705891" cy="70589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2894133" y="8859887"/>
            <a:ext cx="1306637" cy="1158173"/>
            <a:chOff x="0" y="0"/>
            <a:chExt cx="558181" cy="4947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8181" cy="494759"/>
            </a:xfrm>
            <a:custGeom>
              <a:avLst/>
              <a:gdLst/>
              <a:ahLst/>
              <a:cxnLst/>
              <a:rect l="l" t="t" r="r" b="b"/>
              <a:pathLst>
                <a:path w="558181" h="494759">
                  <a:moveTo>
                    <a:pt x="279091" y="0"/>
                  </a:moveTo>
                  <a:cubicBezTo>
                    <a:pt x="124953" y="0"/>
                    <a:pt x="0" y="110756"/>
                    <a:pt x="0" y="247379"/>
                  </a:cubicBezTo>
                  <a:cubicBezTo>
                    <a:pt x="0" y="384003"/>
                    <a:pt x="124953" y="494759"/>
                    <a:pt x="279091" y="494759"/>
                  </a:cubicBezTo>
                  <a:cubicBezTo>
                    <a:pt x="433228" y="494759"/>
                    <a:pt x="558181" y="384003"/>
                    <a:pt x="558181" y="247379"/>
                  </a:cubicBezTo>
                  <a:cubicBezTo>
                    <a:pt x="558181" y="110756"/>
                    <a:pt x="433228" y="0"/>
                    <a:pt x="279091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52329" y="-1241"/>
              <a:ext cx="453522" cy="44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1444123" y="8190132"/>
            <a:ext cx="958510" cy="95851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057400" y="3162300"/>
            <a:ext cx="11654155" cy="177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GB" altLang="en-US" sz="7700">
                <a:latin typeface="29LT Adir Semi-Bold" charset="0"/>
                <a:cs typeface="29LT Adir Semi-Bold" charset="0"/>
                <a:sym typeface="+mn-ea"/>
              </a:rPr>
              <a:t>R-Preprocess sentiment</a:t>
            </a:r>
            <a:endParaRPr lang="en-US" altLang="en-GB" sz="7700"/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GB" altLang="en-US" sz="770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  <p:grpSp>
        <p:nvGrpSpPr>
          <p:cNvPr id="36" name="Group 8"/>
          <p:cNvGrpSpPr/>
          <p:nvPr/>
        </p:nvGrpSpPr>
        <p:grpSpPr>
          <a:xfrm rot="0">
            <a:off x="14905615" y="2015000"/>
            <a:ext cx="837799" cy="364763"/>
            <a:chOff x="0" y="0"/>
            <a:chExt cx="1117065" cy="486350"/>
          </a:xfrm>
        </p:grpSpPr>
        <p:grpSp>
          <p:nvGrpSpPr>
            <p:cNvPr id="37" name="Group 9"/>
            <p:cNvGrpSpPr/>
            <p:nvPr/>
          </p:nvGrpSpPr>
          <p:grpSpPr>
            <a:xfrm rot="0">
              <a:off x="0" y="0"/>
              <a:ext cx="486350" cy="486350"/>
              <a:chOff x="0" y="0"/>
              <a:chExt cx="812800" cy="812800"/>
            </a:xfrm>
          </p:grpSpPr>
          <p:sp>
            <p:nvSpPr>
              <p:cNvPr id="38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39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0" name="Group 12"/>
            <p:cNvGrpSpPr/>
            <p:nvPr/>
          </p:nvGrpSpPr>
          <p:grpSpPr>
            <a:xfrm rot="0">
              <a:off x="630714" y="0"/>
              <a:ext cx="486350" cy="486350"/>
              <a:chOff x="0" y="0"/>
              <a:chExt cx="812800" cy="812800"/>
            </a:xfrm>
          </p:grpSpPr>
          <p:sp>
            <p:nvSpPr>
              <p:cNvPr id="41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42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1" name="TextBox 35"/>
          <p:cNvSpPr txBox="1"/>
          <p:nvPr/>
        </p:nvSpPr>
        <p:spPr>
          <a:xfrm>
            <a:off x="2616835" y="3913505"/>
            <a:ext cx="13028295" cy="38163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</a:rPr>
              <a:t> </a:t>
            </a:r>
            <a:r>
              <a:rPr lang="en-GB" altLang="en-US" sz="3490">
                <a:latin typeface="29LT Adir Semi-Bold" charset="0"/>
                <a:cs typeface="29LT Adir Semi-Bold" charset="0"/>
              </a:rPr>
              <a:t>4</a:t>
            </a:r>
            <a:r>
              <a:rPr lang="en-US" altLang="en-GB" sz="3490">
                <a:latin typeface="29LT Adir Semi-Bold" charset="0"/>
                <a:cs typeface="29LT Adir Semi-Bold" charset="0"/>
              </a:rPr>
              <a:t>. Preprocess sentiment: 0 = negative, 4 = positive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</a:rPr>
              <a:t> df &lt;- df %&gt;%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</a:rPr>
              <a:t>  </a:t>
            </a:r>
            <a:r>
              <a:rPr lang="en-GB" altLang="en-US" sz="3490">
                <a:latin typeface="29LT Adir Semi-Bold" charset="0"/>
                <a:cs typeface="29LT Adir Semi-Bold" charset="0"/>
              </a:rPr>
              <a:t>  </a:t>
            </a:r>
            <a:r>
              <a:rPr lang="en-US" altLang="en-GB" sz="3490">
                <a:latin typeface="29LT Adir Semi-Bold" charset="0"/>
                <a:cs typeface="29LT Adir Semi-Bold" charset="0"/>
              </a:rPr>
              <a:t>mutate(sentiment = factor(if_else(sentiment == 4, "pos", "neg")))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</a:rPr>
              <a:t>Explanation: Transforms sentiment values from numeric to categorical labels ('pos', 'neg')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endParaRPr lang="en-GB" altLang="en-US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243697" y="7319270"/>
            <a:ext cx="2241710" cy="22417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302954" y="426002"/>
            <a:ext cx="3363512" cy="336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923378" y="1617613"/>
            <a:ext cx="14441095" cy="7051773"/>
            <a:chOff x="0" y="0"/>
            <a:chExt cx="18758712" cy="9160122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18695212" cy="9096621"/>
            </a:xfrm>
            <a:custGeom>
              <a:avLst/>
              <a:gdLst/>
              <a:ahLst/>
              <a:cxnLst/>
              <a:rect l="l" t="t" r="r" b="b"/>
              <a:pathLst>
                <a:path w="18695212" h="9096621">
                  <a:moveTo>
                    <a:pt x="18602502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8601232" y="0"/>
                  </a:lnTo>
                  <a:cubicBezTo>
                    <a:pt x="18652032" y="0"/>
                    <a:pt x="18693943" y="41910"/>
                    <a:pt x="18693943" y="92710"/>
                  </a:cubicBezTo>
                  <a:lnTo>
                    <a:pt x="18693943" y="9002642"/>
                  </a:lnTo>
                  <a:cubicBezTo>
                    <a:pt x="18695212" y="9054712"/>
                    <a:pt x="18653302" y="9096621"/>
                    <a:pt x="18602502" y="909662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en-GB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8758712" cy="9160121"/>
            </a:xfrm>
            <a:custGeom>
              <a:avLst/>
              <a:gdLst/>
              <a:ahLst/>
              <a:cxnLst/>
              <a:rect l="l" t="t" r="r" b="b"/>
              <a:pathLst>
                <a:path w="18758712" h="9160121">
                  <a:moveTo>
                    <a:pt x="18634252" y="59690"/>
                  </a:moveTo>
                  <a:cubicBezTo>
                    <a:pt x="18669812" y="59690"/>
                    <a:pt x="18699021" y="88900"/>
                    <a:pt x="18699021" y="124460"/>
                  </a:cubicBezTo>
                  <a:lnTo>
                    <a:pt x="18699021" y="9035662"/>
                  </a:lnTo>
                  <a:cubicBezTo>
                    <a:pt x="18699021" y="9071221"/>
                    <a:pt x="18669812" y="9100431"/>
                    <a:pt x="18634252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8634252" y="59690"/>
                  </a:lnTo>
                  <a:moveTo>
                    <a:pt x="18634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18634252" y="9160121"/>
                  </a:lnTo>
                  <a:cubicBezTo>
                    <a:pt x="18702832" y="9160121"/>
                    <a:pt x="18758712" y="9104242"/>
                    <a:pt x="18758712" y="9035662"/>
                  </a:cubicBezTo>
                  <a:lnTo>
                    <a:pt x="18758712" y="124460"/>
                  </a:lnTo>
                  <a:cubicBezTo>
                    <a:pt x="18758712" y="55880"/>
                    <a:pt x="18702832" y="0"/>
                    <a:pt x="1863425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id="21" name="AutoShape 21"/>
          <p:cNvSpPr/>
          <p:nvPr/>
        </p:nvSpPr>
        <p:spPr>
          <a:xfrm>
            <a:off x="1923418" y="2612293"/>
            <a:ext cx="14441095" cy="2381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 rot="-10106257">
            <a:off x="4503954" y="690402"/>
            <a:ext cx="676596" cy="6765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6812148" y="5874679"/>
            <a:ext cx="705891" cy="70589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2894133" y="8859887"/>
            <a:ext cx="1306637" cy="1158173"/>
            <a:chOff x="0" y="0"/>
            <a:chExt cx="558181" cy="4947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8181" cy="494759"/>
            </a:xfrm>
            <a:custGeom>
              <a:avLst/>
              <a:gdLst/>
              <a:ahLst/>
              <a:cxnLst/>
              <a:rect l="l" t="t" r="r" b="b"/>
              <a:pathLst>
                <a:path w="558181" h="494759">
                  <a:moveTo>
                    <a:pt x="279091" y="0"/>
                  </a:moveTo>
                  <a:cubicBezTo>
                    <a:pt x="124953" y="0"/>
                    <a:pt x="0" y="110756"/>
                    <a:pt x="0" y="247379"/>
                  </a:cubicBezTo>
                  <a:cubicBezTo>
                    <a:pt x="0" y="384003"/>
                    <a:pt x="124953" y="494759"/>
                    <a:pt x="279091" y="494759"/>
                  </a:cubicBezTo>
                  <a:cubicBezTo>
                    <a:pt x="433228" y="494759"/>
                    <a:pt x="558181" y="384003"/>
                    <a:pt x="558181" y="247379"/>
                  </a:cubicBezTo>
                  <a:cubicBezTo>
                    <a:pt x="558181" y="110756"/>
                    <a:pt x="433228" y="0"/>
                    <a:pt x="279091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52329" y="-1241"/>
              <a:ext cx="453522" cy="44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1444123" y="8190132"/>
            <a:ext cx="958510" cy="95851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057400" y="3162300"/>
            <a:ext cx="11654155" cy="177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GB" altLang="en-US" sz="7700">
                <a:latin typeface="29LT Adir Semi-Bold" charset="0"/>
                <a:cs typeface="29LT Adir Semi-Bold" charset="0"/>
                <a:sym typeface="+mn-ea"/>
              </a:rPr>
              <a:t>R- taking a sample </a:t>
            </a:r>
            <a:endParaRPr lang="en-US" altLang="en-GB" sz="7700"/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GB" altLang="en-US" sz="770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  <p:grpSp>
        <p:nvGrpSpPr>
          <p:cNvPr id="36" name="Group 8"/>
          <p:cNvGrpSpPr/>
          <p:nvPr/>
        </p:nvGrpSpPr>
        <p:grpSpPr>
          <a:xfrm rot="0">
            <a:off x="14905615" y="2015000"/>
            <a:ext cx="837799" cy="364763"/>
            <a:chOff x="0" y="0"/>
            <a:chExt cx="1117065" cy="486350"/>
          </a:xfrm>
        </p:grpSpPr>
        <p:grpSp>
          <p:nvGrpSpPr>
            <p:cNvPr id="37" name="Group 9"/>
            <p:cNvGrpSpPr/>
            <p:nvPr/>
          </p:nvGrpSpPr>
          <p:grpSpPr>
            <a:xfrm rot="0">
              <a:off x="0" y="0"/>
              <a:ext cx="486350" cy="486350"/>
              <a:chOff x="0" y="0"/>
              <a:chExt cx="812800" cy="812800"/>
            </a:xfrm>
          </p:grpSpPr>
          <p:sp>
            <p:nvSpPr>
              <p:cNvPr id="38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39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0" name="Group 12"/>
            <p:cNvGrpSpPr/>
            <p:nvPr/>
          </p:nvGrpSpPr>
          <p:grpSpPr>
            <a:xfrm rot="0">
              <a:off x="630714" y="0"/>
              <a:ext cx="486350" cy="486350"/>
              <a:chOff x="0" y="0"/>
              <a:chExt cx="812800" cy="812800"/>
            </a:xfrm>
          </p:grpSpPr>
          <p:sp>
            <p:nvSpPr>
              <p:cNvPr id="41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42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1" name="TextBox 35"/>
          <p:cNvSpPr txBox="1"/>
          <p:nvPr/>
        </p:nvSpPr>
        <p:spPr>
          <a:xfrm>
            <a:off x="2616835" y="3913505"/>
            <a:ext cx="13028295" cy="38163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</a:rPr>
              <a:t> # 5. Sample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</a:rPr>
              <a:t>set.seed(42)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</a:rPr>
              <a:t>df_sub &lt;- df %&gt;% sample_n(100000)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</a:rPr>
              <a:t>Explanation: Takes a random sample of n rows from the dataset.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endParaRPr lang="en-GB" altLang="en-US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243697" y="7319270"/>
            <a:ext cx="2241710" cy="22417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302954" y="426002"/>
            <a:ext cx="3363512" cy="336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923378" y="1617613"/>
            <a:ext cx="14441095" cy="7051773"/>
            <a:chOff x="0" y="0"/>
            <a:chExt cx="18758712" cy="9160122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18695212" cy="9096621"/>
            </a:xfrm>
            <a:custGeom>
              <a:avLst/>
              <a:gdLst/>
              <a:ahLst/>
              <a:cxnLst/>
              <a:rect l="l" t="t" r="r" b="b"/>
              <a:pathLst>
                <a:path w="18695212" h="9096621">
                  <a:moveTo>
                    <a:pt x="18602502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8601232" y="0"/>
                  </a:lnTo>
                  <a:cubicBezTo>
                    <a:pt x="18652032" y="0"/>
                    <a:pt x="18693943" y="41910"/>
                    <a:pt x="18693943" y="92710"/>
                  </a:cubicBezTo>
                  <a:lnTo>
                    <a:pt x="18693943" y="9002642"/>
                  </a:lnTo>
                  <a:cubicBezTo>
                    <a:pt x="18695212" y="9054712"/>
                    <a:pt x="18653302" y="9096621"/>
                    <a:pt x="18602502" y="909662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en-GB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8758712" cy="9160121"/>
            </a:xfrm>
            <a:custGeom>
              <a:avLst/>
              <a:gdLst/>
              <a:ahLst/>
              <a:cxnLst/>
              <a:rect l="l" t="t" r="r" b="b"/>
              <a:pathLst>
                <a:path w="18758712" h="9160121">
                  <a:moveTo>
                    <a:pt x="18634252" y="59690"/>
                  </a:moveTo>
                  <a:cubicBezTo>
                    <a:pt x="18669812" y="59690"/>
                    <a:pt x="18699021" y="88900"/>
                    <a:pt x="18699021" y="124460"/>
                  </a:cubicBezTo>
                  <a:lnTo>
                    <a:pt x="18699021" y="9035662"/>
                  </a:lnTo>
                  <a:cubicBezTo>
                    <a:pt x="18699021" y="9071221"/>
                    <a:pt x="18669812" y="9100431"/>
                    <a:pt x="18634252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8634252" y="59690"/>
                  </a:lnTo>
                  <a:moveTo>
                    <a:pt x="18634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18634252" y="9160121"/>
                  </a:lnTo>
                  <a:cubicBezTo>
                    <a:pt x="18702832" y="9160121"/>
                    <a:pt x="18758712" y="9104242"/>
                    <a:pt x="18758712" y="9035662"/>
                  </a:cubicBezTo>
                  <a:lnTo>
                    <a:pt x="18758712" y="124460"/>
                  </a:lnTo>
                  <a:cubicBezTo>
                    <a:pt x="18758712" y="55880"/>
                    <a:pt x="18702832" y="0"/>
                    <a:pt x="1863425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id="21" name="AutoShape 21"/>
          <p:cNvSpPr/>
          <p:nvPr/>
        </p:nvSpPr>
        <p:spPr>
          <a:xfrm>
            <a:off x="1923418" y="2612293"/>
            <a:ext cx="14441095" cy="2381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 rot="-10106257">
            <a:off x="4503954" y="690402"/>
            <a:ext cx="676596" cy="6765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6812148" y="5874679"/>
            <a:ext cx="705891" cy="70589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2894133" y="8859887"/>
            <a:ext cx="1306637" cy="1158173"/>
            <a:chOff x="0" y="0"/>
            <a:chExt cx="558181" cy="4947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8181" cy="494759"/>
            </a:xfrm>
            <a:custGeom>
              <a:avLst/>
              <a:gdLst/>
              <a:ahLst/>
              <a:cxnLst/>
              <a:rect l="l" t="t" r="r" b="b"/>
              <a:pathLst>
                <a:path w="558181" h="494759">
                  <a:moveTo>
                    <a:pt x="279091" y="0"/>
                  </a:moveTo>
                  <a:cubicBezTo>
                    <a:pt x="124953" y="0"/>
                    <a:pt x="0" y="110756"/>
                    <a:pt x="0" y="247379"/>
                  </a:cubicBezTo>
                  <a:cubicBezTo>
                    <a:pt x="0" y="384003"/>
                    <a:pt x="124953" y="494759"/>
                    <a:pt x="279091" y="494759"/>
                  </a:cubicBezTo>
                  <a:cubicBezTo>
                    <a:pt x="433228" y="494759"/>
                    <a:pt x="558181" y="384003"/>
                    <a:pt x="558181" y="247379"/>
                  </a:cubicBezTo>
                  <a:cubicBezTo>
                    <a:pt x="558181" y="110756"/>
                    <a:pt x="433228" y="0"/>
                    <a:pt x="279091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52329" y="-1241"/>
              <a:ext cx="453522" cy="44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1444123" y="8190132"/>
            <a:ext cx="958510" cy="95851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057400" y="3162300"/>
            <a:ext cx="11654155" cy="177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GB" altLang="en-US" sz="7700">
                <a:latin typeface="29LT Adir Semi-Bold" charset="0"/>
                <a:cs typeface="29LT Adir Semi-Bold" charset="0"/>
                <a:sym typeface="+mn-ea"/>
              </a:rPr>
              <a:t>R- Cleaning text </a:t>
            </a:r>
            <a:endParaRPr lang="en-US" altLang="en-GB" sz="7700"/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GB" altLang="en-US" sz="770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  <p:grpSp>
        <p:nvGrpSpPr>
          <p:cNvPr id="36" name="Group 8"/>
          <p:cNvGrpSpPr/>
          <p:nvPr/>
        </p:nvGrpSpPr>
        <p:grpSpPr>
          <a:xfrm rot="0">
            <a:off x="14905615" y="2015000"/>
            <a:ext cx="837799" cy="364763"/>
            <a:chOff x="0" y="0"/>
            <a:chExt cx="1117065" cy="486350"/>
          </a:xfrm>
        </p:grpSpPr>
        <p:grpSp>
          <p:nvGrpSpPr>
            <p:cNvPr id="37" name="Group 9"/>
            <p:cNvGrpSpPr/>
            <p:nvPr/>
          </p:nvGrpSpPr>
          <p:grpSpPr>
            <a:xfrm rot="0">
              <a:off x="0" y="0"/>
              <a:ext cx="486350" cy="486350"/>
              <a:chOff x="0" y="0"/>
              <a:chExt cx="812800" cy="812800"/>
            </a:xfrm>
          </p:grpSpPr>
          <p:sp>
            <p:nvSpPr>
              <p:cNvPr id="38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39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0" name="Group 12"/>
            <p:cNvGrpSpPr/>
            <p:nvPr/>
          </p:nvGrpSpPr>
          <p:grpSpPr>
            <a:xfrm rot="0">
              <a:off x="630714" y="0"/>
              <a:ext cx="486350" cy="486350"/>
              <a:chOff x="0" y="0"/>
              <a:chExt cx="812800" cy="812800"/>
            </a:xfrm>
          </p:grpSpPr>
          <p:sp>
            <p:nvSpPr>
              <p:cNvPr id="41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42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1" name="TextBox 35"/>
          <p:cNvSpPr txBox="1"/>
          <p:nvPr/>
        </p:nvSpPr>
        <p:spPr>
          <a:xfrm>
            <a:off x="2134235" y="3913505"/>
            <a:ext cx="14019530" cy="42983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</a:rPr>
              <a:t># 6. Clean text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</a:rPr>
              <a:t>df_sub &lt;- df_sub %&gt;%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</a:rPr>
              <a:t>  mutate(text = str_replace_all(text, "http\\S+|www\\S+", "")) %&gt;%  # Remove URLs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</a:rPr>
              <a:t>  mutate(text = str_replace_all(text, "[^a-zA-Z\\s]", " ")) %&gt;%     # Remove punctuation, numbers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</a:rPr>
              <a:t>  mutate(text = str_to_lower(text))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GB" altLang="en-US" sz="3490">
                <a:latin typeface="29LT Adir Semi-Bold" charset="0"/>
                <a:cs typeface="29LT Adir Semi-Bold" charset="0"/>
              </a:rPr>
              <a:t>Explanation: for cleaning text form the URLs and punctuation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endParaRPr lang="en-GB" altLang="en-US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210042" y="7963160"/>
            <a:ext cx="2241710" cy="2824480"/>
            <a:chOff x="0" y="0"/>
            <a:chExt cx="812800" cy="10241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48811" y="518727"/>
              <a:ext cx="660324" cy="505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302954" y="426002"/>
            <a:ext cx="3363512" cy="336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923415" y="1617345"/>
            <a:ext cx="14441170" cy="8068310"/>
            <a:chOff x="0" y="0"/>
            <a:chExt cx="18758712" cy="9160122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18695212" cy="9096621"/>
            </a:xfrm>
            <a:custGeom>
              <a:avLst/>
              <a:gdLst/>
              <a:ahLst/>
              <a:cxnLst/>
              <a:rect l="l" t="t" r="r" b="b"/>
              <a:pathLst>
                <a:path w="18695212" h="9096621">
                  <a:moveTo>
                    <a:pt x="18602502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8601232" y="0"/>
                  </a:lnTo>
                  <a:cubicBezTo>
                    <a:pt x="18652032" y="0"/>
                    <a:pt x="18693943" y="41910"/>
                    <a:pt x="18693943" y="92710"/>
                  </a:cubicBezTo>
                  <a:lnTo>
                    <a:pt x="18693943" y="9002642"/>
                  </a:lnTo>
                  <a:cubicBezTo>
                    <a:pt x="18695212" y="9054712"/>
                    <a:pt x="18653302" y="9096621"/>
                    <a:pt x="18602502" y="909662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en-GB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8758712" cy="9160121"/>
            </a:xfrm>
            <a:custGeom>
              <a:avLst/>
              <a:gdLst/>
              <a:ahLst/>
              <a:cxnLst/>
              <a:rect l="l" t="t" r="r" b="b"/>
              <a:pathLst>
                <a:path w="18758712" h="9160121">
                  <a:moveTo>
                    <a:pt x="18634252" y="59690"/>
                  </a:moveTo>
                  <a:cubicBezTo>
                    <a:pt x="18669812" y="59690"/>
                    <a:pt x="18699021" y="88900"/>
                    <a:pt x="18699021" y="124460"/>
                  </a:cubicBezTo>
                  <a:lnTo>
                    <a:pt x="18699021" y="9035662"/>
                  </a:lnTo>
                  <a:cubicBezTo>
                    <a:pt x="18699021" y="9071221"/>
                    <a:pt x="18669812" y="9100431"/>
                    <a:pt x="18634252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8634252" y="59690"/>
                  </a:lnTo>
                  <a:moveTo>
                    <a:pt x="18634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18634252" y="9160121"/>
                  </a:lnTo>
                  <a:cubicBezTo>
                    <a:pt x="18702832" y="9160121"/>
                    <a:pt x="18758712" y="9104242"/>
                    <a:pt x="18758712" y="9035662"/>
                  </a:cubicBezTo>
                  <a:lnTo>
                    <a:pt x="18758712" y="124460"/>
                  </a:lnTo>
                  <a:cubicBezTo>
                    <a:pt x="18758712" y="55880"/>
                    <a:pt x="18702832" y="0"/>
                    <a:pt x="1863425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id="21" name="AutoShape 21"/>
          <p:cNvSpPr/>
          <p:nvPr/>
        </p:nvSpPr>
        <p:spPr>
          <a:xfrm>
            <a:off x="1923418" y="2612293"/>
            <a:ext cx="14441095" cy="2381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 rot="-10106257">
            <a:off x="4503954" y="690402"/>
            <a:ext cx="676596" cy="6765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6812148" y="5874679"/>
            <a:ext cx="705891" cy="70589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2894133" y="8859887"/>
            <a:ext cx="1306637" cy="1158173"/>
            <a:chOff x="0" y="0"/>
            <a:chExt cx="558181" cy="4947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8181" cy="494759"/>
            </a:xfrm>
            <a:custGeom>
              <a:avLst/>
              <a:gdLst/>
              <a:ahLst/>
              <a:cxnLst/>
              <a:rect l="l" t="t" r="r" b="b"/>
              <a:pathLst>
                <a:path w="558181" h="494759">
                  <a:moveTo>
                    <a:pt x="279091" y="0"/>
                  </a:moveTo>
                  <a:cubicBezTo>
                    <a:pt x="124953" y="0"/>
                    <a:pt x="0" y="110756"/>
                    <a:pt x="0" y="247379"/>
                  </a:cubicBezTo>
                  <a:cubicBezTo>
                    <a:pt x="0" y="384003"/>
                    <a:pt x="124953" y="494759"/>
                    <a:pt x="279091" y="494759"/>
                  </a:cubicBezTo>
                  <a:cubicBezTo>
                    <a:pt x="433228" y="494759"/>
                    <a:pt x="558181" y="384003"/>
                    <a:pt x="558181" y="247379"/>
                  </a:cubicBezTo>
                  <a:cubicBezTo>
                    <a:pt x="558181" y="110756"/>
                    <a:pt x="433228" y="0"/>
                    <a:pt x="279091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52329" y="-1241"/>
              <a:ext cx="453522" cy="44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1129163" y="8538747"/>
            <a:ext cx="958510" cy="95851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057400" y="3112135"/>
            <a:ext cx="11654155" cy="25463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GB" altLang="en-US" sz="7700">
                <a:latin typeface="29LT Adir Semi-Bold" charset="0"/>
                <a:cs typeface="29LT Adir Semi-Bold" charset="0"/>
                <a:sym typeface="+mn-ea"/>
              </a:rPr>
              <a:t>R- Tokenize &amp;TF-IDF </a:t>
            </a:r>
            <a:endParaRPr lang="en-US" altLang="en-GB" sz="7700"/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GB" altLang="en-US" sz="770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  <p:grpSp>
        <p:nvGrpSpPr>
          <p:cNvPr id="36" name="Group 8"/>
          <p:cNvGrpSpPr/>
          <p:nvPr/>
        </p:nvGrpSpPr>
        <p:grpSpPr>
          <a:xfrm rot="0">
            <a:off x="14905615" y="2015000"/>
            <a:ext cx="837799" cy="364763"/>
            <a:chOff x="0" y="0"/>
            <a:chExt cx="1117065" cy="486350"/>
          </a:xfrm>
        </p:grpSpPr>
        <p:grpSp>
          <p:nvGrpSpPr>
            <p:cNvPr id="37" name="Group 9"/>
            <p:cNvGrpSpPr/>
            <p:nvPr/>
          </p:nvGrpSpPr>
          <p:grpSpPr>
            <a:xfrm rot="0">
              <a:off x="0" y="0"/>
              <a:ext cx="486350" cy="486350"/>
              <a:chOff x="0" y="0"/>
              <a:chExt cx="812800" cy="812800"/>
            </a:xfrm>
          </p:grpSpPr>
          <p:sp>
            <p:nvSpPr>
              <p:cNvPr id="38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39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0" name="Group 12"/>
            <p:cNvGrpSpPr/>
            <p:nvPr/>
          </p:nvGrpSpPr>
          <p:grpSpPr>
            <a:xfrm rot="0">
              <a:off x="630714" y="0"/>
              <a:ext cx="486350" cy="486350"/>
              <a:chOff x="0" y="0"/>
              <a:chExt cx="812800" cy="812800"/>
            </a:xfrm>
          </p:grpSpPr>
          <p:sp>
            <p:nvSpPr>
              <p:cNvPr id="41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42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1" name="TextBox 35"/>
          <p:cNvSpPr txBox="1"/>
          <p:nvPr/>
        </p:nvSpPr>
        <p:spPr>
          <a:xfrm>
            <a:off x="2209800" y="3663315"/>
            <a:ext cx="14019530" cy="58985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</a:rPr>
              <a:t>#7. Tokenize &amp; TF-IDF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</a:rPr>
              <a:t>tidy_df &lt;- df_sub %&gt;%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</a:rPr>
              <a:t>  select(id, sentiment, text) %&gt;%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</a:rPr>
              <a:t>  unnest_tokens(word, text) %&gt;%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</a:rPr>
              <a:t>  anti_join(get_stopwords()) %&gt;%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</a:rPr>
              <a:t>  filter(str_detect(word, "^[a-z]{2,}$")) %&gt;%  # Keep only valid words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</a:rPr>
              <a:t>  count(id, sentiment, word, sort = TRUE) %&gt;%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</a:rPr>
              <a:t>  ungroup() %&gt;%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US" altLang="en-GB" sz="3490">
                <a:latin typeface="29LT Adir Semi-Bold" charset="0"/>
                <a:cs typeface="29LT Adir Semi-Bold" charset="0"/>
              </a:rPr>
              <a:t>  bind_tf_idf(word, id, n)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GB" altLang="en-US" sz="3490">
                <a:latin typeface="29LT Adir Semi-Bold" charset="0"/>
                <a:cs typeface="29LT Adir Semi-Bold" charset="0"/>
              </a:rPr>
              <a:t>Explanation:</a:t>
            </a:r>
            <a:r>
              <a:rPr lang="en-US" altLang="en-GB" sz="3490">
                <a:latin typeface="29LT Adir Semi-Bold" charset="0"/>
                <a:cs typeface="29LT Adir Semi-Bold" charset="0"/>
              </a:rPr>
              <a:t>Tokenizes text into individual words</a:t>
            </a:r>
            <a:r>
              <a:rPr lang="en-GB" altLang="en-US" sz="3490">
                <a:latin typeface="29LT Adir Semi-Bold" charset="0"/>
                <a:cs typeface="29LT Adir Semi-Bold" charset="0"/>
              </a:rPr>
              <a:t>,r</a:t>
            </a:r>
            <a:r>
              <a:rPr lang="en-US" altLang="en-GB" sz="3490">
                <a:latin typeface="29LT Adir Semi-Bold" charset="0"/>
                <a:cs typeface="29LT Adir Semi-Bold" charset="0"/>
              </a:rPr>
              <a:t>emoves common English stop words from the tokenized words</a:t>
            </a:r>
            <a:r>
              <a:rPr lang="en-GB" altLang="en-US" sz="3490">
                <a:latin typeface="29LT Adir Semi-Bold" charset="0"/>
                <a:cs typeface="29LT Adir Semi-Bold" charset="0"/>
              </a:rPr>
              <a:t>&amp;</a:t>
            </a:r>
            <a:r>
              <a:rPr lang="en-US" altLang="en-GB" sz="3490">
                <a:latin typeface="29LT Adir Semi-Bold" charset="0"/>
                <a:cs typeface="29LT Adir Semi-Bold" charset="0"/>
              </a:rPr>
              <a:t>Counts the frequency of each word per document/sentiment group</a:t>
            </a:r>
            <a:r>
              <a:rPr lang="en-GB" altLang="en-US" sz="3490">
                <a:latin typeface="29LT Adir Semi-Bold" charset="0"/>
                <a:cs typeface="29LT Adir Semi-Bold" charset="0"/>
              </a:rPr>
              <a:t>.</a:t>
            </a:r>
            <a:endParaRPr lang="en-US" altLang="en-GB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endParaRPr lang="en-GB" altLang="en-US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210042" y="7963160"/>
            <a:ext cx="2241710" cy="2824480"/>
            <a:chOff x="0" y="0"/>
            <a:chExt cx="812800" cy="10241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48811" y="518727"/>
              <a:ext cx="660324" cy="505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302954" y="426002"/>
            <a:ext cx="3363512" cy="336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923415" y="1617345"/>
            <a:ext cx="14441170" cy="8068310"/>
            <a:chOff x="0" y="0"/>
            <a:chExt cx="18758712" cy="9160122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18695212" cy="9096621"/>
            </a:xfrm>
            <a:custGeom>
              <a:avLst/>
              <a:gdLst/>
              <a:ahLst/>
              <a:cxnLst/>
              <a:rect l="l" t="t" r="r" b="b"/>
              <a:pathLst>
                <a:path w="18695212" h="9096621">
                  <a:moveTo>
                    <a:pt x="18602502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8601232" y="0"/>
                  </a:lnTo>
                  <a:cubicBezTo>
                    <a:pt x="18652032" y="0"/>
                    <a:pt x="18693943" y="41910"/>
                    <a:pt x="18693943" y="92710"/>
                  </a:cubicBezTo>
                  <a:lnTo>
                    <a:pt x="18693943" y="9002642"/>
                  </a:lnTo>
                  <a:cubicBezTo>
                    <a:pt x="18695212" y="9054712"/>
                    <a:pt x="18653302" y="9096621"/>
                    <a:pt x="18602502" y="909662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en-GB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8758712" cy="9160121"/>
            </a:xfrm>
            <a:custGeom>
              <a:avLst/>
              <a:gdLst/>
              <a:ahLst/>
              <a:cxnLst/>
              <a:rect l="l" t="t" r="r" b="b"/>
              <a:pathLst>
                <a:path w="18758712" h="9160121">
                  <a:moveTo>
                    <a:pt x="18634252" y="59690"/>
                  </a:moveTo>
                  <a:cubicBezTo>
                    <a:pt x="18669812" y="59690"/>
                    <a:pt x="18699021" y="88900"/>
                    <a:pt x="18699021" y="124460"/>
                  </a:cubicBezTo>
                  <a:lnTo>
                    <a:pt x="18699021" y="9035662"/>
                  </a:lnTo>
                  <a:cubicBezTo>
                    <a:pt x="18699021" y="9071221"/>
                    <a:pt x="18669812" y="9100431"/>
                    <a:pt x="18634252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8634252" y="59690"/>
                  </a:lnTo>
                  <a:moveTo>
                    <a:pt x="18634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18634252" y="9160121"/>
                  </a:lnTo>
                  <a:cubicBezTo>
                    <a:pt x="18702832" y="9160121"/>
                    <a:pt x="18758712" y="9104242"/>
                    <a:pt x="18758712" y="9035662"/>
                  </a:cubicBezTo>
                  <a:lnTo>
                    <a:pt x="18758712" y="124460"/>
                  </a:lnTo>
                  <a:cubicBezTo>
                    <a:pt x="18758712" y="55880"/>
                    <a:pt x="18702832" y="0"/>
                    <a:pt x="1863425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id="21" name="AutoShape 21"/>
          <p:cNvSpPr/>
          <p:nvPr/>
        </p:nvSpPr>
        <p:spPr>
          <a:xfrm>
            <a:off x="1923418" y="2612293"/>
            <a:ext cx="14441095" cy="2381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 rot="-10106257">
            <a:off x="4503954" y="690402"/>
            <a:ext cx="676596" cy="6765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6812148" y="5874679"/>
            <a:ext cx="705891" cy="70589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2894133" y="8859887"/>
            <a:ext cx="1306637" cy="1158173"/>
            <a:chOff x="0" y="0"/>
            <a:chExt cx="558181" cy="4947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8181" cy="494759"/>
            </a:xfrm>
            <a:custGeom>
              <a:avLst/>
              <a:gdLst/>
              <a:ahLst/>
              <a:cxnLst/>
              <a:rect l="l" t="t" r="r" b="b"/>
              <a:pathLst>
                <a:path w="558181" h="494759">
                  <a:moveTo>
                    <a:pt x="279091" y="0"/>
                  </a:moveTo>
                  <a:cubicBezTo>
                    <a:pt x="124953" y="0"/>
                    <a:pt x="0" y="110756"/>
                    <a:pt x="0" y="247379"/>
                  </a:cubicBezTo>
                  <a:cubicBezTo>
                    <a:pt x="0" y="384003"/>
                    <a:pt x="124953" y="494759"/>
                    <a:pt x="279091" y="494759"/>
                  </a:cubicBezTo>
                  <a:cubicBezTo>
                    <a:pt x="433228" y="494759"/>
                    <a:pt x="558181" y="384003"/>
                    <a:pt x="558181" y="247379"/>
                  </a:cubicBezTo>
                  <a:cubicBezTo>
                    <a:pt x="558181" y="110756"/>
                    <a:pt x="433228" y="0"/>
                    <a:pt x="279091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52329" y="-1241"/>
              <a:ext cx="453522" cy="44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1129163" y="8538747"/>
            <a:ext cx="958510" cy="95851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057400" y="3112135"/>
            <a:ext cx="13559155" cy="55943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GB" altLang="en-US" sz="7700">
                <a:latin typeface="29LT Adir Semi-Bold" charset="0"/>
                <a:cs typeface="29LT Adir Semi-Bold" charset="0"/>
                <a:sym typeface="+mn-ea"/>
              </a:rPr>
              <a:t>R- Separating and getting the top words </a:t>
            </a:r>
            <a:endParaRPr lang="en-US" altLang="en-GB" sz="7700"/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GB" altLang="en-US" sz="770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  <p:grpSp>
        <p:nvGrpSpPr>
          <p:cNvPr id="36" name="Group 8"/>
          <p:cNvGrpSpPr/>
          <p:nvPr/>
        </p:nvGrpSpPr>
        <p:grpSpPr>
          <a:xfrm rot="0">
            <a:off x="14905615" y="2015000"/>
            <a:ext cx="837799" cy="364763"/>
            <a:chOff x="0" y="0"/>
            <a:chExt cx="1117065" cy="486350"/>
          </a:xfrm>
        </p:grpSpPr>
        <p:grpSp>
          <p:nvGrpSpPr>
            <p:cNvPr id="37" name="Group 9"/>
            <p:cNvGrpSpPr/>
            <p:nvPr/>
          </p:nvGrpSpPr>
          <p:grpSpPr>
            <a:xfrm rot="0">
              <a:off x="0" y="0"/>
              <a:ext cx="486350" cy="486350"/>
              <a:chOff x="0" y="0"/>
              <a:chExt cx="812800" cy="812800"/>
            </a:xfrm>
          </p:grpSpPr>
          <p:sp>
            <p:nvSpPr>
              <p:cNvPr id="38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39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0" name="Group 12"/>
            <p:cNvGrpSpPr/>
            <p:nvPr/>
          </p:nvGrpSpPr>
          <p:grpSpPr>
            <a:xfrm rot="0">
              <a:off x="630714" y="0"/>
              <a:ext cx="486350" cy="486350"/>
              <a:chOff x="0" y="0"/>
              <a:chExt cx="812800" cy="812800"/>
            </a:xfrm>
          </p:grpSpPr>
          <p:sp>
            <p:nvSpPr>
              <p:cNvPr id="41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42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1" name="TextBox 35"/>
          <p:cNvSpPr txBox="1"/>
          <p:nvPr/>
        </p:nvSpPr>
        <p:spPr>
          <a:xfrm>
            <a:off x="2209800" y="3663315"/>
            <a:ext cx="14019530" cy="5372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# Separate sentiment word data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pos_words &lt;- tidy_df %&gt;% filter(sentiment == "pos")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neg_words &lt;- tidy_df %&gt;% filter(sentiment == "neg")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# Top words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top_pos &lt;- pos_words %&gt;% count(word, wt = tf_idf, sort = TRUE) %&gt;% head(100)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top_neg &lt;- neg_words %&gt;% count(word, wt = tf_idf, sort = TRUE) %&gt;% head(100)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210042" y="7963160"/>
            <a:ext cx="2241710" cy="2824480"/>
            <a:chOff x="0" y="0"/>
            <a:chExt cx="812800" cy="10241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48811" y="518727"/>
              <a:ext cx="660324" cy="505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302954" y="426002"/>
            <a:ext cx="3363512" cy="336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923415" y="1617345"/>
            <a:ext cx="15241905" cy="8068310"/>
            <a:chOff x="0" y="0"/>
            <a:chExt cx="18758712" cy="9160122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18695212" cy="9096621"/>
            </a:xfrm>
            <a:custGeom>
              <a:avLst/>
              <a:gdLst/>
              <a:ahLst/>
              <a:cxnLst/>
              <a:rect l="l" t="t" r="r" b="b"/>
              <a:pathLst>
                <a:path w="18695212" h="9096621">
                  <a:moveTo>
                    <a:pt x="18602502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8601232" y="0"/>
                  </a:lnTo>
                  <a:cubicBezTo>
                    <a:pt x="18652032" y="0"/>
                    <a:pt x="18693943" y="41910"/>
                    <a:pt x="18693943" y="92710"/>
                  </a:cubicBezTo>
                  <a:lnTo>
                    <a:pt x="18693943" y="9002642"/>
                  </a:lnTo>
                  <a:cubicBezTo>
                    <a:pt x="18695212" y="9054712"/>
                    <a:pt x="18653302" y="9096621"/>
                    <a:pt x="18602502" y="909662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en-GB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8758712" cy="9160121"/>
            </a:xfrm>
            <a:custGeom>
              <a:avLst/>
              <a:gdLst/>
              <a:ahLst/>
              <a:cxnLst/>
              <a:rect l="l" t="t" r="r" b="b"/>
              <a:pathLst>
                <a:path w="18758712" h="9160121">
                  <a:moveTo>
                    <a:pt x="18634252" y="59690"/>
                  </a:moveTo>
                  <a:cubicBezTo>
                    <a:pt x="18669812" y="59690"/>
                    <a:pt x="18699021" y="88900"/>
                    <a:pt x="18699021" y="124460"/>
                  </a:cubicBezTo>
                  <a:lnTo>
                    <a:pt x="18699021" y="9035662"/>
                  </a:lnTo>
                  <a:cubicBezTo>
                    <a:pt x="18699021" y="9071221"/>
                    <a:pt x="18669812" y="9100431"/>
                    <a:pt x="18634252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8634252" y="59690"/>
                  </a:lnTo>
                  <a:moveTo>
                    <a:pt x="18634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18634252" y="9160121"/>
                  </a:lnTo>
                  <a:cubicBezTo>
                    <a:pt x="18702832" y="9160121"/>
                    <a:pt x="18758712" y="9104242"/>
                    <a:pt x="18758712" y="9035662"/>
                  </a:cubicBezTo>
                  <a:lnTo>
                    <a:pt x="18758712" y="124460"/>
                  </a:lnTo>
                  <a:cubicBezTo>
                    <a:pt x="18758712" y="55880"/>
                    <a:pt x="18702832" y="0"/>
                    <a:pt x="1863425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id="21" name="AutoShape 21"/>
          <p:cNvSpPr/>
          <p:nvPr/>
        </p:nvSpPr>
        <p:spPr>
          <a:xfrm>
            <a:off x="1923415" y="2612390"/>
            <a:ext cx="15242540" cy="482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 rot="-10106257">
            <a:off x="4503954" y="690402"/>
            <a:ext cx="676596" cy="6765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6812148" y="5874679"/>
            <a:ext cx="705891" cy="70589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2894133" y="8859887"/>
            <a:ext cx="1306637" cy="1158173"/>
            <a:chOff x="0" y="0"/>
            <a:chExt cx="558181" cy="4947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8181" cy="494759"/>
            </a:xfrm>
            <a:custGeom>
              <a:avLst/>
              <a:gdLst/>
              <a:ahLst/>
              <a:cxnLst/>
              <a:rect l="l" t="t" r="r" b="b"/>
              <a:pathLst>
                <a:path w="558181" h="494759">
                  <a:moveTo>
                    <a:pt x="279091" y="0"/>
                  </a:moveTo>
                  <a:cubicBezTo>
                    <a:pt x="124953" y="0"/>
                    <a:pt x="0" y="110756"/>
                    <a:pt x="0" y="247379"/>
                  </a:cubicBezTo>
                  <a:cubicBezTo>
                    <a:pt x="0" y="384003"/>
                    <a:pt x="124953" y="494759"/>
                    <a:pt x="279091" y="494759"/>
                  </a:cubicBezTo>
                  <a:cubicBezTo>
                    <a:pt x="433228" y="494759"/>
                    <a:pt x="558181" y="384003"/>
                    <a:pt x="558181" y="247379"/>
                  </a:cubicBezTo>
                  <a:cubicBezTo>
                    <a:pt x="558181" y="110756"/>
                    <a:pt x="433228" y="0"/>
                    <a:pt x="279091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52329" y="-1241"/>
              <a:ext cx="453522" cy="44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1129163" y="8538747"/>
            <a:ext cx="958510" cy="95851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057400" y="3112135"/>
            <a:ext cx="15020290" cy="457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GB" altLang="en-US" sz="7700">
                <a:latin typeface="29LT Adir Semi-Bold" charset="0"/>
                <a:cs typeface="29LT Adir Semi-Bold" charset="0"/>
                <a:sym typeface="+mn-ea"/>
              </a:rPr>
              <a:t>R- classifying for bar plot </a:t>
            </a:r>
            <a:endParaRPr lang="en-US" altLang="en-GB" sz="7700"/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GB" altLang="en-US" sz="770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  <p:grpSp>
        <p:nvGrpSpPr>
          <p:cNvPr id="36" name="Group 8"/>
          <p:cNvGrpSpPr/>
          <p:nvPr/>
        </p:nvGrpSpPr>
        <p:grpSpPr>
          <a:xfrm rot="0">
            <a:off x="15952095" y="2002300"/>
            <a:ext cx="837799" cy="364763"/>
            <a:chOff x="0" y="0"/>
            <a:chExt cx="1117065" cy="486350"/>
          </a:xfrm>
        </p:grpSpPr>
        <p:grpSp>
          <p:nvGrpSpPr>
            <p:cNvPr id="37" name="Group 9"/>
            <p:cNvGrpSpPr/>
            <p:nvPr/>
          </p:nvGrpSpPr>
          <p:grpSpPr>
            <a:xfrm rot="0">
              <a:off x="0" y="0"/>
              <a:ext cx="486350" cy="486350"/>
              <a:chOff x="0" y="0"/>
              <a:chExt cx="812800" cy="812800"/>
            </a:xfrm>
          </p:grpSpPr>
          <p:sp>
            <p:nvSpPr>
              <p:cNvPr id="38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39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0" name="Group 12"/>
            <p:cNvGrpSpPr/>
            <p:nvPr/>
          </p:nvGrpSpPr>
          <p:grpSpPr>
            <a:xfrm rot="0">
              <a:off x="630714" y="0"/>
              <a:ext cx="486350" cy="486350"/>
              <a:chOff x="0" y="0"/>
              <a:chExt cx="812800" cy="812800"/>
            </a:xfrm>
          </p:grpSpPr>
          <p:sp>
            <p:nvSpPr>
              <p:cNvPr id="41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42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1" name="TextBox 35"/>
          <p:cNvSpPr txBox="1"/>
          <p:nvPr/>
        </p:nvSpPr>
        <p:spPr>
          <a:xfrm>
            <a:off x="2209800" y="3663315"/>
            <a:ext cx="14019530" cy="5372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# Top TF-IDF words for bar plot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top_words &lt;- tidy_df %&gt;%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  count(sentiment, word, wt = tf_idf, sort = TRUE) %&gt;%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  group_by(sentiment) %&gt;%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  top_n(10, n) %&gt;%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  ungroup()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GB" altLang="en-US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Explanation: Classiying the top -ve and +ve words for the bar plot visiualization</a:t>
            </a:r>
            <a:endParaRPr lang="en-GB" altLang="en-US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210042" y="7963160"/>
            <a:ext cx="2241710" cy="2824480"/>
            <a:chOff x="0" y="0"/>
            <a:chExt cx="812800" cy="10241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48811" y="518727"/>
              <a:ext cx="660324" cy="505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302954" y="426002"/>
            <a:ext cx="3363512" cy="336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923415" y="1617345"/>
            <a:ext cx="15241905" cy="8068310"/>
            <a:chOff x="0" y="0"/>
            <a:chExt cx="18758712" cy="9160122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18695212" cy="9096621"/>
            </a:xfrm>
            <a:custGeom>
              <a:avLst/>
              <a:gdLst/>
              <a:ahLst/>
              <a:cxnLst/>
              <a:rect l="l" t="t" r="r" b="b"/>
              <a:pathLst>
                <a:path w="18695212" h="9096621">
                  <a:moveTo>
                    <a:pt x="18602502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8601232" y="0"/>
                  </a:lnTo>
                  <a:cubicBezTo>
                    <a:pt x="18652032" y="0"/>
                    <a:pt x="18693943" y="41910"/>
                    <a:pt x="18693943" y="92710"/>
                  </a:cubicBezTo>
                  <a:lnTo>
                    <a:pt x="18693943" y="9002642"/>
                  </a:lnTo>
                  <a:cubicBezTo>
                    <a:pt x="18695212" y="9054712"/>
                    <a:pt x="18653302" y="9096621"/>
                    <a:pt x="18602502" y="909662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en-GB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8758712" cy="9160121"/>
            </a:xfrm>
            <a:custGeom>
              <a:avLst/>
              <a:gdLst/>
              <a:ahLst/>
              <a:cxnLst/>
              <a:rect l="l" t="t" r="r" b="b"/>
              <a:pathLst>
                <a:path w="18758712" h="9160121">
                  <a:moveTo>
                    <a:pt x="18634252" y="59690"/>
                  </a:moveTo>
                  <a:cubicBezTo>
                    <a:pt x="18669812" y="59690"/>
                    <a:pt x="18699021" y="88900"/>
                    <a:pt x="18699021" y="124460"/>
                  </a:cubicBezTo>
                  <a:lnTo>
                    <a:pt x="18699021" y="9035662"/>
                  </a:lnTo>
                  <a:cubicBezTo>
                    <a:pt x="18699021" y="9071221"/>
                    <a:pt x="18669812" y="9100431"/>
                    <a:pt x="18634252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8634252" y="59690"/>
                  </a:lnTo>
                  <a:moveTo>
                    <a:pt x="18634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18634252" y="9160121"/>
                  </a:lnTo>
                  <a:cubicBezTo>
                    <a:pt x="18702832" y="9160121"/>
                    <a:pt x="18758712" y="9104242"/>
                    <a:pt x="18758712" y="9035662"/>
                  </a:cubicBezTo>
                  <a:lnTo>
                    <a:pt x="18758712" y="124460"/>
                  </a:lnTo>
                  <a:cubicBezTo>
                    <a:pt x="18758712" y="55880"/>
                    <a:pt x="18702832" y="0"/>
                    <a:pt x="1863425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id="21" name="AutoShape 21"/>
          <p:cNvSpPr/>
          <p:nvPr/>
        </p:nvSpPr>
        <p:spPr>
          <a:xfrm flipV="1">
            <a:off x="1923415" y="2635885"/>
            <a:ext cx="15215870" cy="7747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 rot="-10106257">
            <a:off x="4503954" y="690402"/>
            <a:ext cx="676596" cy="6765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6812148" y="5874679"/>
            <a:ext cx="705891" cy="70589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2894133" y="8859887"/>
            <a:ext cx="1306637" cy="1158173"/>
            <a:chOff x="0" y="0"/>
            <a:chExt cx="558181" cy="4947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8181" cy="494759"/>
            </a:xfrm>
            <a:custGeom>
              <a:avLst/>
              <a:gdLst/>
              <a:ahLst/>
              <a:cxnLst/>
              <a:rect l="l" t="t" r="r" b="b"/>
              <a:pathLst>
                <a:path w="558181" h="494759">
                  <a:moveTo>
                    <a:pt x="279091" y="0"/>
                  </a:moveTo>
                  <a:cubicBezTo>
                    <a:pt x="124953" y="0"/>
                    <a:pt x="0" y="110756"/>
                    <a:pt x="0" y="247379"/>
                  </a:cubicBezTo>
                  <a:cubicBezTo>
                    <a:pt x="0" y="384003"/>
                    <a:pt x="124953" y="494759"/>
                    <a:pt x="279091" y="494759"/>
                  </a:cubicBezTo>
                  <a:cubicBezTo>
                    <a:pt x="433228" y="494759"/>
                    <a:pt x="558181" y="384003"/>
                    <a:pt x="558181" y="247379"/>
                  </a:cubicBezTo>
                  <a:cubicBezTo>
                    <a:pt x="558181" y="110756"/>
                    <a:pt x="433228" y="0"/>
                    <a:pt x="279091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52329" y="-1241"/>
              <a:ext cx="453522" cy="44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1129163" y="8538747"/>
            <a:ext cx="958510" cy="95851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057400" y="3112135"/>
            <a:ext cx="15020290" cy="457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GB" altLang="en-US" sz="7700">
                <a:latin typeface="29LT Adir Semi-Bold" charset="0"/>
                <a:cs typeface="29LT Adir Semi-Bold" charset="0"/>
                <a:sym typeface="+mn-ea"/>
              </a:rPr>
              <a:t>R- bar plot </a:t>
            </a:r>
            <a:endParaRPr lang="en-US" altLang="en-GB" sz="7700"/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GB" altLang="en-US" sz="770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  <p:grpSp>
        <p:nvGrpSpPr>
          <p:cNvPr id="36" name="Group 8"/>
          <p:cNvGrpSpPr/>
          <p:nvPr/>
        </p:nvGrpSpPr>
        <p:grpSpPr>
          <a:xfrm rot="0">
            <a:off x="15875895" y="1930545"/>
            <a:ext cx="837799" cy="364763"/>
            <a:chOff x="0" y="0"/>
            <a:chExt cx="1117065" cy="486350"/>
          </a:xfrm>
        </p:grpSpPr>
        <p:grpSp>
          <p:nvGrpSpPr>
            <p:cNvPr id="37" name="Group 9"/>
            <p:cNvGrpSpPr/>
            <p:nvPr/>
          </p:nvGrpSpPr>
          <p:grpSpPr>
            <a:xfrm rot="0">
              <a:off x="0" y="0"/>
              <a:ext cx="486350" cy="486350"/>
              <a:chOff x="0" y="0"/>
              <a:chExt cx="812800" cy="812800"/>
            </a:xfrm>
          </p:grpSpPr>
          <p:sp>
            <p:nvSpPr>
              <p:cNvPr id="38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39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0" name="Group 12"/>
            <p:cNvGrpSpPr/>
            <p:nvPr/>
          </p:nvGrpSpPr>
          <p:grpSpPr>
            <a:xfrm rot="0">
              <a:off x="630714" y="0"/>
              <a:ext cx="486350" cy="486350"/>
              <a:chOff x="0" y="0"/>
              <a:chExt cx="812800" cy="812800"/>
            </a:xfrm>
          </p:grpSpPr>
          <p:sp>
            <p:nvSpPr>
              <p:cNvPr id="41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42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1" name="TextBox 35"/>
          <p:cNvSpPr txBox="1"/>
          <p:nvPr/>
        </p:nvSpPr>
        <p:spPr>
          <a:xfrm>
            <a:off x="2209800" y="3663315"/>
            <a:ext cx="14019530" cy="5372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# Save bar plot as ggplot object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bar_plot &lt;- ggplot(top_words, aes(x = fct_reorder(word, n), y = n, fill = sentiment)) +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  geom_col(show.legend = FALSE) +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  facet_wrap(~sentiment, scales = "free") +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  coord_flip() +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  labs(title = "Top TF-IDF Words by Sentiment", x = NULL, y = "TF-IDF Weighted Frequency") +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  scale_fill_manual(values = c("pos" = "#1DA1F2", "neg" = "red"))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endParaRPr lang="en-GB" altLang="en-US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GB" altLang="en-US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Explanation: bar plot to visiualize the most frequent words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210042" y="7963160"/>
            <a:ext cx="2241710" cy="2824480"/>
            <a:chOff x="0" y="0"/>
            <a:chExt cx="812800" cy="10241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48811" y="518727"/>
              <a:ext cx="660324" cy="505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302954" y="426002"/>
            <a:ext cx="3363512" cy="336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923415" y="1617345"/>
            <a:ext cx="15241905" cy="8068310"/>
            <a:chOff x="0" y="0"/>
            <a:chExt cx="18758712" cy="9160122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18695212" cy="9096621"/>
            </a:xfrm>
            <a:custGeom>
              <a:avLst/>
              <a:gdLst/>
              <a:ahLst/>
              <a:cxnLst/>
              <a:rect l="l" t="t" r="r" b="b"/>
              <a:pathLst>
                <a:path w="18695212" h="9096621">
                  <a:moveTo>
                    <a:pt x="18602502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8601232" y="0"/>
                  </a:lnTo>
                  <a:cubicBezTo>
                    <a:pt x="18652032" y="0"/>
                    <a:pt x="18693943" y="41910"/>
                    <a:pt x="18693943" y="92710"/>
                  </a:cubicBezTo>
                  <a:lnTo>
                    <a:pt x="18693943" y="9002642"/>
                  </a:lnTo>
                  <a:cubicBezTo>
                    <a:pt x="18695212" y="9054712"/>
                    <a:pt x="18653302" y="9096621"/>
                    <a:pt x="18602502" y="909662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en-GB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8758712" cy="9160121"/>
            </a:xfrm>
            <a:custGeom>
              <a:avLst/>
              <a:gdLst/>
              <a:ahLst/>
              <a:cxnLst/>
              <a:rect l="l" t="t" r="r" b="b"/>
              <a:pathLst>
                <a:path w="18758712" h="9160121">
                  <a:moveTo>
                    <a:pt x="18634252" y="59690"/>
                  </a:moveTo>
                  <a:cubicBezTo>
                    <a:pt x="18669812" y="59690"/>
                    <a:pt x="18699021" y="88900"/>
                    <a:pt x="18699021" y="124460"/>
                  </a:cubicBezTo>
                  <a:lnTo>
                    <a:pt x="18699021" y="9035662"/>
                  </a:lnTo>
                  <a:cubicBezTo>
                    <a:pt x="18699021" y="9071221"/>
                    <a:pt x="18669812" y="9100431"/>
                    <a:pt x="18634252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8634252" y="59690"/>
                  </a:lnTo>
                  <a:moveTo>
                    <a:pt x="18634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18634252" y="9160121"/>
                  </a:lnTo>
                  <a:cubicBezTo>
                    <a:pt x="18702832" y="9160121"/>
                    <a:pt x="18758712" y="9104242"/>
                    <a:pt x="18758712" y="9035662"/>
                  </a:cubicBezTo>
                  <a:lnTo>
                    <a:pt x="18758712" y="124460"/>
                  </a:lnTo>
                  <a:cubicBezTo>
                    <a:pt x="18758712" y="55880"/>
                    <a:pt x="18702832" y="0"/>
                    <a:pt x="1863425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id="21" name="AutoShape 21"/>
          <p:cNvSpPr/>
          <p:nvPr/>
        </p:nvSpPr>
        <p:spPr>
          <a:xfrm>
            <a:off x="1923415" y="2536825"/>
            <a:ext cx="15241905" cy="990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 rot="-10106257">
            <a:off x="4503954" y="690402"/>
            <a:ext cx="676596" cy="6765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6812148" y="5874679"/>
            <a:ext cx="705891" cy="70589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2894133" y="8859887"/>
            <a:ext cx="1306637" cy="1158173"/>
            <a:chOff x="0" y="0"/>
            <a:chExt cx="558181" cy="4947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8181" cy="494759"/>
            </a:xfrm>
            <a:custGeom>
              <a:avLst/>
              <a:gdLst/>
              <a:ahLst/>
              <a:cxnLst/>
              <a:rect l="l" t="t" r="r" b="b"/>
              <a:pathLst>
                <a:path w="558181" h="494759">
                  <a:moveTo>
                    <a:pt x="279091" y="0"/>
                  </a:moveTo>
                  <a:cubicBezTo>
                    <a:pt x="124953" y="0"/>
                    <a:pt x="0" y="110756"/>
                    <a:pt x="0" y="247379"/>
                  </a:cubicBezTo>
                  <a:cubicBezTo>
                    <a:pt x="0" y="384003"/>
                    <a:pt x="124953" y="494759"/>
                    <a:pt x="279091" y="494759"/>
                  </a:cubicBezTo>
                  <a:cubicBezTo>
                    <a:pt x="433228" y="494759"/>
                    <a:pt x="558181" y="384003"/>
                    <a:pt x="558181" y="247379"/>
                  </a:cubicBezTo>
                  <a:cubicBezTo>
                    <a:pt x="558181" y="110756"/>
                    <a:pt x="433228" y="0"/>
                    <a:pt x="279091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52329" y="-1241"/>
              <a:ext cx="453522" cy="44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1129163" y="8538747"/>
            <a:ext cx="958510" cy="95851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057400" y="3112135"/>
            <a:ext cx="15020290" cy="457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GB" altLang="en-US" sz="7700">
                <a:latin typeface="29LT Adir Semi-Bold" charset="0"/>
                <a:cs typeface="29LT Adir Semi-Bold" charset="0"/>
                <a:sym typeface="+mn-ea"/>
              </a:rPr>
              <a:t>R- train test split</a:t>
            </a:r>
            <a:endParaRPr lang="en-US" altLang="en-GB" sz="7700"/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GB" altLang="en-US" sz="770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  <p:grpSp>
        <p:nvGrpSpPr>
          <p:cNvPr id="36" name="Group 8"/>
          <p:cNvGrpSpPr/>
          <p:nvPr/>
        </p:nvGrpSpPr>
        <p:grpSpPr>
          <a:xfrm rot="0">
            <a:off x="15967970" y="1930545"/>
            <a:ext cx="837799" cy="364763"/>
            <a:chOff x="0" y="0"/>
            <a:chExt cx="1117065" cy="486350"/>
          </a:xfrm>
        </p:grpSpPr>
        <p:grpSp>
          <p:nvGrpSpPr>
            <p:cNvPr id="37" name="Group 9"/>
            <p:cNvGrpSpPr/>
            <p:nvPr/>
          </p:nvGrpSpPr>
          <p:grpSpPr>
            <a:xfrm rot="0">
              <a:off x="0" y="0"/>
              <a:ext cx="486350" cy="486350"/>
              <a:chOff x="0" y="0"/>
              <a:chExt cx="812800" cy="812800"/>
            </a:xfrm>
          </p:grpSpPr>
          <p:sp>
            <p:nvSpPr>
              <p:cNvPr id="38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39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0" name="Group 12"/>
            <p:cNvGrpSpPr/>
            <p:nvPr/>
          </p:nvGrpSpPr>
          <p:grpSpPr>
            <a:xfrm rot="0">
              <a:off x="630714" y="0"/>
              <a:ext cx="486350" cy="486350"/>
              <a:chOff x="0" y="0"/>
              <a:chExt cx="812800" cy="812800"/>
            </a:xfrm>
          </p:grpSpPr>
          <p:sp>
            <p:nvSpPr>
              <p:cNvPr id="41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42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1" name="TextBox 35"/>
          <p:cNvSpPr txBox="1"/>
          <p:nvPr/>
        </p:nvSpPr>
        <p:spPr>
          <a:xfrm>
            <a:off x="2209800" y="3663315"/>
            <a:ext cx="14019530" cy="5372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marL="0" indent="0">
              <a:buNone/>
            </a:pP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# 10. Split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set.seed(123)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train_idx &lt;- createDataPartition(y, p = 0.8, list = FALSE)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x_train &lt;- dtm[train_idx, ]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y_train &lt;- y[train_idx]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x_test &lt;- dtm[-train_idx, ]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y_test &lt;- y[-train_idx]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GB" altLang="en-US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Explanation :splitting the data into 80% for training and 20% for testing 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210042" y="7963160"/>
            <a:ext cx="2241710" cy="2824480"/>
            <a:chOff x="0" y="0"/>
            <a:chExt cx="812800" cy="10241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48811" y="518727"/>
              <a:ext cx="660324" cy="505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302954" y="426002"/>
            <a:ext cx="3363512" cy="336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923415" y="1617345"/>
            <a:ext cx="15241905" cy="8068310"/>
            <a:chOff x="0" y="0"/>
            <a:chExt cx="18758712" cy="9160122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18695212" cy="9096621"/>
            </a:xfrm>
            <a:custGeom>
              <a:avLst/>
              <a:gdLst/>
              <a:ahLst/>
              <a:cxnLst/>
              <a:rect l="l" t="t" r="r" b="b"/>
              <a:pathLst>
                <a:path w="18695212" h="9096621">
                  <a:moveTo>
                    <a:pt x="18602502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8601232" y="0"/>
                  </a:lnTo>
                  <a:cubicBezTo>
                    <a:pt x="18652032" y="0"/>
                    <a:pt x="18693943" y="41910"/>
                    <a:pt x="18693943" y="92710"/>
                  </a:cubicBezTo>
                  <a:lnTo>
                    <a:pt x="18693943" y="9002642"/>
                  </a:lnTo>
                  <a:cubicBezTo>
                    <a:pt x="18695212" y="9054712"/>
                    <a:pt x="18653302" y="9096621"/>
                    <a:pt x="18602502" y="909662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en-GB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8758712" cy="9160121"/>
            </a:xfrm>
            <a:custGeom>
              <a:avLst/>
              <a:gdLst/>
              <a:ahLst/>
              <a:cxnLst/>
              <a:rect l="l" t="t" r="r" b="b"/>
              <a:pathLst>
                <a:path w="18758712" h="9160121">
                  <a:moveTo>
                    <a:pt x="18634252" y="59690"/>
                  </a:moveTo>
                  <a:cubicBezTo>
                    <a:pt x="18669812" y="59690"/>
                    <a:pt x="18699021" y="88900"/>
                    <a:pt x="18699021" y="124460"/>
                  </a:cubicBezTo>
                  <a:lnTo>
                    <a:pt x="18699021" y="9035662"/>
                  </a:lnTo>
                  <a:cubicBezTo>
                    <a:pt x="18699021" y="9071221"/>
                    <a:pt x="18669812" y="9100431"/>
                    <a:pt x="18634252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8634252" y="59690"/>
                  </a:lnTo>
                  <a:moveTo>
                    <a:pt x="18634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18634252" y="9160121"/>
                  </a:lnTo>
                  <a:cubicBezTo>
                    <a:pt x="18702832" y="9160121"/>
                    <a:pt x="18758712" y="9104242"/>
                    <a:pt x="18758712" y="9035662"/>
                  </a:cubicBezTo>
                  <a:lnTo>
                    <a:pt x="18758712" y="124460"/>
                  </a:lnTo>
                  <a:cubicBezTo>
                    <a:pt x="18758712" y="55880"/>
                    <a:pt x="18702832" y="0"/>
                    <a:pt x="1863425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id="21" name="AutoShape 21"/>
          <p:cNvSpPr/>
          <p:nvPr/>
        </p:nvSpPr>
        <p:spPr>
          <a:xfrm flipV="1">
            <a:off x="1923415" y="2635885"/>
            <a:ext cx="15253970" cy="127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 rot="-10106257">
            <a:off x="4503954" y="690402"/>
            <a:ext cx="676596" cy="6765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6812148" y="5874679"/>
            <a:ext cx="705891" cy="70589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2894133" y="8859887"/>
            <a:ext cx="1306637" cy="1158173"/>
            <a:chOff x="0" y="0"/>
            <a:chExt cx="558181" cy="4947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8181" cy="494759"/>
            </a:xfrm>
            <a:custGeom>
              <a:avLst/>
              <a:gdLst/>
              <a:ahLst/>
              <a:cxnLst/>
              <a:rect l="l" t="t" r="r" b="b"/>
              <a:pathLst>
                <a:path w="558181" h="494759">
                  <a:moveTo>
                    <a:pt x="279091" y="0"/>
                  </a:moveTo>
                  <a:cubicBezTo>
                    <a:pt x="124953" y="0"/>
                    <a:pt x="0" y="110756"/>
                    <a:pt x="0" y="247379"/>
                  </a:cubicBezTo>
                  <a:cubicBezTo>
                    <a:pt x="0" y="384003"/>
                    <a:pt x="124953" y="494759"/>
                    <a:pt x="279091" y="494759"/>
                  </a:cubicBezTo>
                  <a:cubicBezTo>
                    <a:pt x="433228" y="494759"/>
                    <a:pt x="558181" y="384003"/>
                    <a:pt x="558181" y="247379"/>
                  </a:cubicBezTo>
                  <a:cubicBezTo>
                    <a:pt x="558181" y="110756"/>
                    <a:pt x="433228" y="0"/>
                    <a:pt x="279091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52329" y="-1241"/>
              <a:ext cx="453522" cy="44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1129163" y="8538747"/>
            <a:ext cx="958510" cy="95851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057400" y="3112135"/>
            <a:ext cx="15020290" cy="457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GB" altLang="en-US" sz="7700">
                <a:latin typeface="29LT Adir Semi-Bold" charset="0"/>
                <a:cs typeface="29LT Adir Semi-Bold" charset="0"/>
                <a:sym typeface="+mn-ea"/>
              </a:rPr>
              <a:t>R- train logistic regression model</a:t>
            </a:r>
            <a:endParaRPr lang="en-US" altLang="en-GB" sz="7700"/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GB" altLang="en-US" sz="770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  <p:grpSp>
        <p:nvGrpSpPr>
          <p:cNvPr id="36" name="Group 8"/>
          <p:cNvGrpSpPr/>
          <p:nvPr/>
        </p:nvGrpSpPr>
        <p:grpSpPr>
          <a:xfrm rot="0">
            <a:off x="15833985" y="2015000"/>
            <a:ext cx="837799" cy="364763"/>
            <a:chOff x="0" y="0"/>
            <a:chExt cx="1117065" cy="486350"/>
          </a:xfrm>
        </p:grpSpPr>
        <p:grpSp>
          <p:nvGrpSpPr>
            <p:cNvPr id="37" name="Group 9"/>
            <p:cNvGrpSpPr/>
            <p:nvPr/>
          </p:nvGrpSpPr>
          <p:grpSpPr>
            <a:xfrm rot="0">
              <a:off x="0" y="0"/>
              <a:ext cx="486350" cy="486350"/>
              <a:chOff x="0" y="0"/>
              <a:chExt cx="812800" cy="812800"/>
            </a:xfrm>
          </p:grpSpPr>
          <p:sp>
            <p:nvSpPr>
              <p:cNvPr id="38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39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0" name="Group 12"/>
            <p:cNvGrpSpPr/>
            <p:nvPr/>
          </p:nvGrpSpPr>
          <p:grpSpPr>
            <a:xfrm rot="0">
              <a:off x="630714" y="0"/>
              <a:ext cx="486350" cy="486350"/>
              <a:chOff x="0" y="0"/>
              <a:chExt cx="812800" cy="812800"/>
            </a:xfrm>
          </p:grpSpPr>
          <p:sp>
            <p:nvSpPr>
              <p:cNvPr id="41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42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1" name="TextBox 35"/>
          <p:cNvSpPr txBox="1"/>
          <p:nvPr/>
        </p:nvSpPr>
        <p:spPr>
          <a:xfrm>
            <a:off x="2209800" y="3663315"/>
            <a:ext cx="14019530" cy="5372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marL="0" indent="0">
              <a:buNone/>
            </a:pP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# 11. Train logistic regression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cvfit &lt;- cv.glmnet(x_train, y_train, family = "binomial", type.measure = "class")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best_lambda &lt;- cvfit$lambda.min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Explanation: Trains a logistic regression model using cross-validation to choose the best regularization.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210042" y="7963160"/>
            <a:ext cx="2241710" cy="2824480"/>
            <a:chOff x="0" y="0"/>
            <a:chExt cx="812800" cy="10241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48811" y="518727"/>
              <a:ext cx="660324" cy="505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302954" y="426002"/>
            <a:ext cx="3363512" cy="336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923415" y="1617345"/>
            <a:ext cx="15241905" cy="8068310"/>
            <a:chOff x="0" y="0"/>
            <a:chExt cx="18758712" cy="9160122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18695212" cy="9096621"/>
            </a:xfrm>
            <a:custGeom>
              <a:avLst/>
              <a:gdLst/>
              <a:ahLst/>
              <a:cxnLst/>
              <a:rect l="l" t="t" r="r" b="b"/>
              <a:pathLst>
                <a:path w="18695212" h="9096621">
                  <a:moveTo>
                    <a:pt x="18602502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8601232" y="0"/>
                  </a:lnTo>
                  <a:cubicBezTo>
                    <a:pt x="18652032" y="0"/>
                    <a:pt x="18693943" y="41910"/>
                    <a:pt x="18693943" y="92710"/>
                  </a:cubicBezTo>
                  <a:lnTo>
                    <a:pt x="18693943" y="9002642"/>
                  </a:lnTo>
                  <a:cubicBezTo>
                    <a:pt x="18695212" y="9054712"/>
                    <a:pt x="18653302" y="9096621"/>
                    <a:pt x="18602502" y="909662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en-GB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8758712" cy="9160121"/>
            </a:xfrm>
            <a:custGeom>
              <a:avLst/>
              <a:gdLst/>
              <a:ahLst/>
              <a:cxnLst/>
              <a:rect l="l" t="t" r="r" b="b"/>
              <a:pathLst>
                <a:path w="18758712" h="9160121">
                  <a:moveTo>
                    <a:pt x="18634252" y="59690"/>
                  </a:moveTo>
                  <a:cubicBezTo>
                    <a:pt x="18669812" y="59690"/>
                    <a:pt x="18699021" y="88900"/>
                    <a:pt x="18699021" y="124460"/>
                  </a:cubicBezTo>
                  <a:lnTo>
                    <a:pt x="18699021" y="9035662"/>
                  </a:lnTo>
                  <a:cubicBezTo>
                    <a:pt x="18699021" y="9071221"/>
                    <a:pt x="18669812" y="9100431"/>
                    <a:pt x="18634252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8634252" y="59690"/>
                  </a:lnTo>
                  <a:moveTo>
                    <a:pt x="18634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18634252" y="9160121"/>
                  </a:lnTo>
                  <a:cubicBezTo>
                    <a:pt x="18702832" y="9160121"/>
                    <a:pt x="18758712" y="9104242"/>
                    <a:pt x="18758712" y="9035662"/>
                  </a:cubicBezTo>
                  <a:lnTo>
                    <a:pt x="18758712" y="124460"/>
                  </a:lnTo>
                  <a:cubicBezTo>
                    <a:pt x="18758712" y="55880"/>
                    <a:pt x="18702832" y="0"/>
                    <a:pt x="1863425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id="21" name="AutoShape 21"/>
          <p:cNvSpPr/>
          <p:nvPr/>
        </p:nvSpPr>
        <p:spPr>
          <a:xfrm flipV="1">
            <a:off x="1923415" y="2611120"/>
            <a:ext cx="15215870" cy="127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 rot="-10106257">
            <a:off x="4503954" y="690402"/>
            <a:ext cx="676596" cy="6765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6812148" y="5874679"/>
            <a:ext cx="705891" cy="70589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2894133" y="8859887"/>
            <a:ext cx="1306637" cy="1158173"/>
            <a:chOff x="0" y="0"/>
            <a:chExt cx="558181" cy="4947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8181" cy="494759"/>
            </a:xfrm>
            <a:custGeom>
              <a:avLst/>
              <a:gdLst/>
              <a:ahLst/>
              <a:cxnLst/>
              <a:rect l="l" t="t" r="r" b="b"/>
              <a:pathLst>
                <a:path w="558181" h="494759">
                  <a:moveTo>
                    <a:pt x="279091" y="0"/>
                  </a:moveTo>
                  <a:cubicBezTo>
                    <a:pt x="124953" y="0"/>
                    <a:pt x="0" y="110756"/>
                    <a:pt x="0" y="247379"/>
                  </a:cubicBezTo>
                  <a:cubicBezTo>
                    <a:pt x="0" y="384003"/>
                    <a:pt x="124953" y="494759"/>
                    <a:pt x="279091" y="494759"/>
                  </a:cubicBezTo>
                  <a:cubicBezTo>
                    <a:pt x="433228" y="494759"/>
                    <a:pt x="558181" y="384003"/>
                    <a:pt x="558181" y="247379"/>
                  </a:cubicBezTo>
                  <a:cubicBezTo>
                    <a:pt x="558181" y="110756"/>
                    <a:pt x="433228" y="0"/>
                    <a:pt x="279091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52329" y="-1241"/>
              <a:ext cx="453522" cy="44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1129163" y="8538747"/>
            <a:ext cx="958510" cy="95851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057400" y="3112135"/>
            <a:ext cx="15020290" cy="457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GB" altLang="en-US" sz="7700">
                <a:latin typeface="29LT Adir Semi-Bold" charset="0"/>
                <a:cs typeface="29LT Adir Semi-Bold" charset="0"/>
                <a:sym typeface="+mn-ea"/>
              </a:rPr>
              <a:t>R- train logistic regression model</a:t>
            </a:r>
            <a:endParaRPr lang="en-US" altLang="en-GB" sz="7700"/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GB" altLang="en-US" sz="770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  <p:grpSp>
        <p:nvGrpSpPr>
          <p:cNvPr id="36" name="Group 8"/>
          <p:cNvGrpSpPr/>
          <p:nvPr/>
        </p:nvGrpSpPr>
        <p:grpSpPr>
          <a:xfrm rot="0">
            <a:off x="15895580" y="2015635"/>
            <a:ext cx="837799" cy="364763"/>
            <a:chOff x="0" y="0"/>
            <a:chExt cx="1117065" cy="486350"/>
          </a:xfrm>
        </p:grpSpPr>
        <p:grpSp>
          <p:nvGrpSpPr>
            <p:cNvPr id="37" name="Group 9"/>
            <p:cNvGrpSpPr/>
            <p:nvPr/>
          </p:nvGrpSpPr>
          <p:grpSpPr>
            <a:xfrm rot="0">
              <a:off x="0" y="0"/>
              <a:ext cx="486350" cy="486350"/>
              <a:chOff x="0" y="0"/>
              <a:chExt cx="812800" cy="812800"/>
            </a:xfrm>
          </p:grpSpPr>
          <p:sp>
            <p:nvSpPr>
              <p:cNvPr id="38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39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0" name="Group 12"/>
            <p:cNvGrpSpPr/>
            <p:nvPr/>
          </p:nvGrpSpPr>
          <p:grpSpPr>
            <a:xfrm rot="0">
              <a:off x="630714" y="0"/>
              <a:ext cx="486350" cy="486350"/>
              <a:chOff x="0" y="0"/>
              <a:chExt cx="812800" cy="812800"/>
            </a:xfrm>
          </p:grpSpPr>
          <p:sp>
            <p:nvSpPr>
              <p:cNvPr id="41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42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1" name="TextBox 35"/>
          <p:cNvSpPr txBox="1"/>
          <p:nvPr/>
        </p:nvSpPr>
        <p:spPr>
          <a:xfrm>
            <a:off x="2209800" y="3663315"/>
            <a:ext cx="14019530" cy="5372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marL="0" indent="0">
              <a:buNone/>
            </a:pP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# 11. Train logistic regression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cvfit &lt;- cv.glmnet(x_train, y_train, family = "binomial", type.measure = "class")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best_lambda &lt;- cvfit$lambda.min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Explanation: Trains a logistic regression model using cross-validation to choose the best regularization.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210042" y="7963160"/>
            <a:ext cx="2241710" cy="2824480"/>
            <a:chOff x="0" y="0"/>
            <a:chExt cx="812800" cy="10241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48811" y="518727"/>
              <a:ext cx="660324" cy="505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302954" y="426002"/>
            <a:ext cx="3363512" cy="336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923415" y="1617345"/>
            <a:ext cx="15241905" cy="8068310"/>
            <a:chOff x="0" y="0"/>
            <a:chExt cx="18758712" cy="9160122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18695212" cy="9096621"/>
            </a:xfrm>
            <a:custGeom>
              <a:avLst/>
              <a:gdLst/>
              <a:ahLst/>
              <a:cxnLst/>
              <a:rect l="l" t="t" r="r" b="b"/>
              <a:pathLst>
                <a:path w="18695212" h="9096621">
                  <a:moveTo>
                    <a:pt x="18602502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8601232" y="0"/>
                  </a:lnTo>
                  <a:cubicBezTo>
                    <a:pt x="18652032" y="0"/>
                    <a:pt x="18693943" y="41910"/>
                    <a:pt x="18693943" y="92710"/>
                  </a:cubicBezTo>
                  <a:lnTo>
                    <a:pt x="18693943" y="9002642"/>
                  </a:lnTo>
                  <a:cubicBezTo>
                    <a:pt x="18695212" y="9054712"/>
                    <a:pt x="18653302" y="9096621"/>
                    <a:pt x="18602502" y="909662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en-GB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8758712" cy="9160121"/>
            </a:xfrm>
            <a:custGeom>
              <a:avLst/>
              <a:gdLst/>
              <a:ahLst/>
              <a:cxnLst/>
              <a:rect l="l" t="t" r="r" b="b"/>
              <a:pathLst>
                <a:path w="18758712" h="9160121">
                  <a:moveTo>
                    <a:pt x="18634252" y="59690"/>
                  </a:moveTo>
                  <a:cubicBezTo>
                    <a:pt x="18669812" y="59690"/>
                    <a:pt x="18699021" y="88900"/>
                    <a:pt x="18699021" y="124460"/>
                  </a:cubicBezTo>
                  <a:lnTo>
                    <a:pt x="18699021" y="9035662"/>
                  </a:lnTo>
                  <a:cubicBezTo>
                    <a:pt x="18699021" y="9071221"/>
                    <a:pt x="18669812" y="9100431"/>
                    <a:pt x="18634252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8634252" y="59690"/>
                  </a:lnTo>
                  <a:moveTo>
                    <a:pt x="18634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18634252" y="9160121"/>
                  </a:lnTo>
                  <a:cubicBezTo>
                    <a:pt x="18702832" y="9160121"/>
                    <a:pt x="18758712" y="9104242"/>
                    <a:pt x="18758712" y="9035662"/>
                  </a:cubicBezTo>
                  <a:lnTo>
                    <a:pt x="18758712" y="124460"/>
                  </a:lnTo>
                  <a:cubicBezTo>
                    <a:pt x="18758712" y="55880"/>
                    <a:pt x="18702832" y="0"/>
                    <a:pt x="1863425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id="21" name="AutoShape 21"/>
          <p:cNvSpPr/>
          <p:nvPr/>
        </p:nvSpPr>
        <p:spPr>
          <a:xfrm>
            <a:off x="1923415" y="2612390"/>
            <a:ext cx="15241905" cy="114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 rot="-10106257">
            <a:off x="4503954" y="690402"/>
            <a:ext cx="676596" cy="6765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6812148" y="5874679"/>
            <a:ext cx="705891" cy="70589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2894133" y="8859887"/>
            <a:ext cx="1306637" cy="1158173"/>
            <a:chOff x="0" y="0"/>
            <a:chExt cx="558181" cy="4947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8181" cy="494759"/>
            </a:xfrm>
            <a:custGeom>
              <a:avLst/>
              <a:gdLst/>
              <a:ahLst/>
              <a:cxnLst/>
              <a:rect l="l" t="t" r="r" b="b"/>
              <a:pathLst>
                <a:path w="558181" h="494759">
                  <a:moveTo>
                    <a:pt x="279091" y="0"/>
                  </a:moveTo>
                  <a:cubicBezTo>
                    <a:pt x="124953" y="0"/>
                    <a:pt x="0" y="110756"/>
                    <a:pt x="0" y="247379"/>
                  </a:cubicBezTo>
                  <a:cubicBezTo>
                    <a:pt x="0" y="384003"/>
                    <a:pt x="124953" y="494759"/>
                    <a:pt x="279091" y="494759"/>
                  </a:cubicBezTo>
                  <a:cubicBezTo>
                    <a:pt x="433228" y="494759"/>
                    <a:pt x="558181" y="384003"/>
                    <a:pt x="558181" y="247379"/>
                  </a:cubicBezTo>
                  <a:cubicBezTo>
                    <a:pt x="558181" y="110756"/>
                    <a:pt x="433228" y="0"/>
                    <a:pt x="279091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52329" y="-1241"/>
              <a:ext cx="453522" cy="44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1129163" y="8538747"/>
            <a:ext cx="958510" cy="95851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057400" y="3112135"/>
            <a:ext cx="15020290" cy="457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GB" altLang="en-US" sz="7700">
                <a:latin typeface="29LT Adir Semi-Bold" charset="0"/>
                <a:cs typeface="29LT Adir Semi-Bold" charset="0"/>
                <a:sym typeface="+mn-ea"/>
              </a:rPr>
              <a:t>R- Accuracy score for the model</a:t>
            </a:r>
            <a:endParaRPr lang="en-US" altLang="en-GB" sz="7700"/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GB" altLang="en-US" sz="770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  <p:grpSp>
        <p:nvGrpSpPr>
          <p:cNvPr id="36" name="Group 8"/>
          <p:cNvGrpSpPr/>
          <p:nvPr/>
        </p:nvGrpSpPr>
        <p:grpSpPr>
          <a:xfrm rot="0">
            <a:off x="15723495" y="2002300"/>
            <a:ext cx="837799" cy="364763"/>
            <a:chOff x="0" y="0"/>
            <a:chExt cx="1117065" cy="486350"/>
          </a:xfrm>
        </p:grpSpPr>
        <p:grpSp>
          <p:nvGrpSpPr>
            <p:cNvPr id="37" name="Group 9"/>
            <p:cNvGrpSpPr/>
            <p:nvPr/>
          </p:nvGrpSpPr>
          <p:grpSpPr>
            <a:xfrm rot="0">
              <a:off x="0" y="0"/>
              <a:ext cx="486350" cy="486350"/>
              <a:chOff x="0" y="0"/>
              <a:chExt cx="812800" cy="812800"/>
            </a:xfrm>
          </p:grpSpPr>
          <p:sp>
            <p:nvSpPr>
              <p:cNvPr id="38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39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0" name="Group 12"/>
            <p:cNvGrpSpPr/>
            <p:nvPr/>
          </p:nvGrpSpPr>
          <p:grpSpPr>
            <a:xfrm rot="0">
              <a:off x="630714" y="0"/>
              <a:ext cx="486350" cy="486350"/>
              <a:chOff x="0" y="0"/>
              <a:chExt cx="812800" cy="812800"/>
            </a:xfrm>
          </p:grpSpPr>
          <p:sp>
            <p:nvSpPr>
              <p:cNvPr id="41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42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1" name="TextBox 35"/>
          <p:cNvSpPr txBox="1"/>
          <p:nvPr/>
        </p:nvSpPr>
        <p:spPr>
          <a:xfrm>
            <a:off x="2209800" y="3663315"/>
            <a:ext cx="14019530" cy="5372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marL="0" indent="0">
              <a:buNone/>
            </a:pP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# 13. Accuracy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acc_train &lt;- mean(pred_train == y_train)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US" altLang="en-GB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acc_test &lt;- mean(pred_test == y_test)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r>
              <a:rPr lang="en-GB" altLang="en-US" sz="3490" b="1">
                <a:solidFill>
                  <a:srgbClr val="000000"/>
                </a:solidFill>
                <a:latin typeface="29LT Adir Semi-Bold" charset="0"/>
                <a:ea typeface="29LT Adir Semi-Bold" panose="00000706000000000000"/>
                <a:cs typeface="29LT Adir Semi-Bold" charset="0"/>
                <a:sym typeface="+mn-ea"/>
              </a:rPr>
              <a:t>Explanation:for calculating the accuracy for the trained and tested data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  <a:p>
            <a:pPr marL="0" indent="0">
              <a:buNone/>
            </a:pP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A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161152"/>
            <a:ext cx="16230600" cy="8229600"/>
            <a:chOff x="0" y="0"/>
            <a:chExt cx="21083246" cy="10690097"/>
          </a:xfrm>
        </p:grpSpPr>
        <p:sp>
          <p:nvSpPr>
            <p:cNvPr id="3" name="Freeform 3"/>
            <p:cNvSpPr/>
            <p:nvPr/>
          </p:nvSpPr>
          <p:spPr>
            <a:xfrm>
              <a:off x="31750" y="31750"/>
              <a:ext cx="21019746" cy="10626596"/>
            </a:xfrm>
            <a:custGeom>
              <a:avLst/>
              <a:gdLst/>
              <a:ahLst/>
              <a:cxnLst/>
              <a:rect l="l" t="t" r="r" b="b"/>
              <a:pathLst>
                <a:path w="21019746" h="10626596">
                  <a:moveTo>
                    <a:pt x="20927036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0925766" y="0"/>
                  </a:lnTo>
                  <a:cubicBezTo>
                    <a:pt x="20976566" y="0"/>
                    <a:pt x="21018477" y="41910"/>
                    <a:pt x="21018477" y="92710"/>
                  </a:cubicBezTo>
                  <a:lnTo>
                    <a:pt x="21018477" y="10532617"/>
                  </a:lnTo>
                  <a:cubicBezTo>
                    <a:pt x="21019746" y="10584686"/>
                    <a:pt x="20977836" y="10626596"/>
                    <a:pt x="20927036" y="106265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1083246" cy="10690096"/>
            </a:xfrm>
            <a:custGeom>
              <a:avLst/>
              <a:gdLst/>
              <a:ahLst/>
              <a:cxnLst/>
              <a:rect l="l" t="t" r="r" b="b"/>
              <a:pathLst>
                <a:path w="21083246" h="10690096">
                  <a:moveTo>
                    <a:pt x="20958786" y="59690"/>
                  </a:moveTo>
                  <a:cubicBezTo>
                    <a:pt x="20994346" y="59690"/>
                    <a:pt x="21023556" y="88900"/>
                    <a:pt x="21023556" y="124460"/>
                  </a:cubicBezTo>
                  <a:lnTo>
                    <a:pt x="21023556" y="10565636"/>
                  </a:lnTo>
                  <a:cubicBezTo>
                    <a:pt x="21023556" y="10601196"/>
                    <a:pt x="20994346" y="10630406"/>
                    <a:pt x="20958786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0958786" y="59690"/>
                  </a:lnTo>
                  <a:moveTo>
                    <a:pt x="2095878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20958786" y="10690096"/>
                  </a:lnTo>
                  <a:cubicBezTo>
                    <a:pt x="21027366" y="10690096"/>
                    <a:pt x="21083246" y="10634217"/>
                    <a:pt x="21083246" y="10565636"/>
                  </a:cubicBezTo>
                  <a:lnTo>
                    <a:pt x="21083246" y="124460"/>
                  </a:lnTo>
                  <a:cubicBezTo>
                    <a:pt x="21083246" y="55880"/>
                    <a:pt x="21027366" y="0"/>
                    <a:pt x="20958786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id="5" name="Group 5"/>
          <p:cNvGrpSpPr/>
          <p:nvPr/>
        </p:nvGrpSpPr>
        <p:grpSpPr>
          <a:xfrm rot="0">
            <a:off x="15810540" y="1316799"/>
            <a:ext cx="1066685" cy="464416"/>
            <a:chOff x="0" y="0"/>
            <a:chExt cx="1422246" cy="619221"/>
          </a:xfrm>
        </p:grpSpPr>
        <p:grpSp>
          <p:nvGrpSpPr>
            <p:cNvPr id="6" name="Group 6"/>
            <p:cNvGrpSpPr/>
            <p:nvPr/>
          </p:nvGrpSpPr>
          <p:grpSpPr>
            <a:xfrm rot="0">
              <a:off x="0" y="0"/>
              <a:ext cx="619221" cy="61922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803025" y="0"/>
              <a:ext cx="619221" cy="619221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3" name="AutoShape 13"/>
          <p:cNvSpPr/>
          <p:nvPr/>
        </p:nvSpPr>
        <p:spPr>
          <a:xfrm>
            <a:off x="1028700" y="2029334"/>
            <a:ext cx="16230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4" name="Picture 13" descr="6a65a49c-19a8-40c6-9122-eac46099e8f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25" y="2094865"/>
            <a:ext cx="16059150" cy="716724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A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161152"/>
            <a:ext cx="16230600" cy="8229600"/>
            <a:chOff x="0" y="0"/>
            <a:chExt cx="21083246" cy="10690097"/>
          </a:xfrm>
        </p:grpSpPr>
        <p:sp>
          <p:nvSpPr>
            <p:cNvPr id="3" name="Freeform 3"/>
            <p:cNvSpPr/>
            <p:nvPr/>
          </p:nvSpPr>
          <p:spPr>
            <a:xfrm>
              <a:off x="31750" y="31750"/>
              <a:ext cx="21019746" cy="10626596"/>
            </a:xfrm>
            <a:custGeom>
              <a:avLst/>
              <a:gdLst/>
              <a:ahLst/>
              <a:cxnLst/>
              <a:rect l="l" t="t" r="r" b="b"/>
              <a:pathLst>
                <a:path w="21019746" h="10626596">
                  <a:moveTo>
                    <a:pt x="20927036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0925766" y="0"/>
                  </a:lnTo>
                  <a:cubicBezTo>
                    <a:pt x="20976566" y="0"/>
                    <a:pt x="21018477" y="41910"/>
                    <a:pt x="21018477" y="92710"/>
                  </a:cubicBezTo>
                  <a:lnTo>
                    <a:pt x="21018477" y="10532617"/>
                  </a:lnTo>
                  <a:cubicBezTo>
                    <a:pt x="21019746" y="10584686"/>
                    <a:pt x="20977836" y="10626596"/>
                    <a:pt x="20927036" y="106265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1083246" cy="10690096"/>
            </a:xfrm>
            <a:custGeom>
              <a:avLst/>
              <a:gdLst/>
              <a:ahLst/>
              <a:cxnLst/>
              <a:rect l="l" t="t" r="r" b="b"/>
              <a:pathLst>
                <a:path w="21083246" h="10690096">
                  <a:moveTo>
                    <a:pt x="20958786" y="59690"/>
                  </a:moveTo>
                  <a:cubicBezTo>
                    <a:pt x="20994346" y="59690"/>
                    <a:pt x="21023556" y="88900"/>
                    <a:pt x="21023556" y="124460"/>
                  </a:cubicBezTo>
                  <a:lnTo>
                    <a:pt x="21023556" y="10565636"/>
                  </a:lnTo>
                  <a:cubicBezTo>
                    <a:pt x="21023556" y="10601196"/>
                    <a:pt x="20994346" y="10630406"/>
                    <a:pt x="20958786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0958786" y="59690"/>
                  </a:lnTo>
                  <a:moveTo>
                    <a:pt x="2095878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20958786" y="10690096"/>
                  </a:lnTo>
                  <a:cubicBezTo>
                    <a:pt x="21027366" y="10690096"/>
                    <a:pt x="21083246" y="10634217"/>
                    <a:pt x="21083246" y="10565636"/>
                  </a:cubicBezTo>
                  <a:lnTo>
                    <a:pt x="21083246" y="124460"/>
                  </a:lnTo>
                  <a:cubicBezTo>
                    <a:pt x="21083246" y="55880"/>
                    <a:pt x="21027366" y="0"/>
                    <a:pt x="20958786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id="5" name="Group 5"/>
          <p:cNvGrpSpPr/>
          <p:nvPr/>
        </p:nvGrpSpPr>
        <p:grpSpPr>
          <a:xfrm rot="0">
            <a:off x="15810540" y="1316799"/>
            <a:ext cx="1066685" cy="464416"/>
            <a:chOff x="0" y="0"/>
            <a:chExt cx="1422246" cy="619221"/>
          </a:xfrm>
        </p:grpSpPr>
        <p:grpSp>
          <p:nvGrpSpPr>
            <p:cNvPr id="6" name="Group 6"/>
            <p:cNvGrpSpPr/>
            <p:nvPr/>
          </p:nvGrpSpPr>
          <p:grpSpPr>
            <a:xfrm rot="0">
              <a:off x="0" y="0"/>
              <a:ext cx="619221" cy="61922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803025" y="0"/>
              <a:ext cx="619221" cy="619221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3" name="AutoShape 13"/>
          <p:cNvSpPr/>
          <p:nvPr/>
        </p:nvSpPr>
        <p:spPr>
          <a:xfrm>
            <a:off x="1028700" y="2029334"/>
            <a:ext cx="16230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2" name="Picture 11" descr="Screenshot 2025-05-14 1943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630" y="2054225"/>
            <a:ext cx="16108680" cy="723455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A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161152"/>
            <a:ext cx="16230600" cy="8229600"/>
            <a:chOff x="0" y="0"/>
            <a:chExt cx="21083246" cy="10690097"/>
          </a:xfrm>
        </p:grpSpPr>
        <p:sp>
          <p:nvSpPr>
            <p:cNvPr id="3" name="Freeform 3"/>
            <p:cNvSpPr/>
            <p:nvPr/>
          </p:nvSpPr>
          <p:spPr>
            <a:xfrm>
              <a:off x="31750" y="31750"/>
              <a:ext cx="21019746" cy="10626596"/>
            </a:xfrm>
            <a:custGeom>
              <a:avLst/>
              <a:gdLst/>
              <a:ahLst/>
              <a:cxnLst/>
              <a:rect l="l" t="t" r="r" b="b"/>
              <a:pathLst>
                <a:path w="21019746" h="10626596">
                  <a:moveTo>
                    <a:pt x="20927036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0925766" y="0"/>
                  </a:lnTo>
                  <a:cubicBezTo>
                    <a:pt x="20976566" y="0"/>
                    <a:pt x="21018477" y="41910"/>
                    <a:pt x="21018477" y="92710"/>
                  </a:cubicBezTo>
                  <a:lnTo>
                    <a:pt x="21018477" y="10532617"/>
                  </a:lnTo>
                  <a:cubicBezTo>
                    <a:pt x="21019746" y="10584686"/>
                    <a:pt x="20977836" y="10626596"/>
                    <a:pt x="20927036" y="106265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1083246" cy="10690096"/>
            </a:xfrm>
            <a:custGeom>
              <a:avLst/>
              <a:gdLst/>
              <a:ahLst/>
              <a:cxnLst/>
              <a:rect l="l" t="t" r="r" b="b"/>
              <a:pathLst>
                <a:path w="21083246" h="10690096">
                  <a:moveTo>
                    <a:pt x="20958786" y="59690"/>
                  </a:moveTo>
                  <a:cubicBezTo>
                    <a:pt x="20994346" y="59690"/>
                    <a:pt x="21023556" y="88900"/>
                    <a:pt x="21023556" y="124460"/>
                  </a:cubicBezTo>
                  <a:lnTo>
                    <a:pt x="21023556" y="10565636"/>
                  </a:lnTo>
                  <a:cubicBezTo>
                    <a:pt x="21023556" y="10601196"/>
                    <a:pt x="20994346" y="10630406"/>
                    <a:pt x="20958786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0958786" y="59690"/>
                  </a:lnTo>
                  <a:moveTo>
                    <a:pt x="2095878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20958786" y="10690096"/>
                  </a:lnTo>
                  <a:cubicBezTo>
                    <a:pt x="21027366" y="10690096"/>
                    <a:pt x="21083246" y="10634217"/>
                    <a:pt x="21083246" y="10565636"/>
                  </a:cubicBezTo>
                  <a:lnTo>
                    <a:pt x="21083246" y="124460"/>
                  </a:lnTo>
                  <a:cubicBezTo>
                    <a:pt x="21083246" y="55880"/>
                    <a:pt x="21027366" y="0"/>
                    <a:pt x="20958786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id="5" name="Group 5"/>
          <p:cNvGrpSpPr/>
          <p:nvPr/>
        </p:nvGrpSpPr>
        <p:grpSpPr>
          <a:xfrm rot="0">
            <a:off x="15810540" y="1316799"/>
            <a:ext cx="1066685" cy="464416"/>
            <a:chOff x="0" y="0"/>
            <a:chExt cx="1422246" cy="619221"/>
          </a:xfrm>
        </p:grpSpPr>
        <p:grpSp>
          <p:nvGrpSpPr>
            <p:cNvPr id="6" name="Group 6"/>
            <p:cNvGrpSpPr/>
            <p:nvPr/>
          </p:nvGrpSpPr>
          <p:grpSpPr>
            <a:xfrm rot="0">
              <a:off x="0" y="0"/>
              <a:ext cx="619221" cy="61922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803025" y="0"/>
              <a:ext cx="619221" cy="619221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3" name="AutoShape 13"/>
          <p:cNvSpPr/>
          <p:nvPr/>
        </p:nvSpPr>
        <p:spPr>
          <a:xfrm>
            <a:off x="1028700" y="2029334"/>
            <a:ext cx="16230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7"/>
          <p:cNvSpPr txBox="1"/>
          <p:nvPr/>
        </p:nvSpPr>
        <p:spPr>
          <a:xfrm>
            <a:off x="1676400" y="4838700"/>
            <a:ext cx="13722350" cy="173101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marL="377190" lvl="1" indent="0" algn="ctr">
              <a:lnSpc>
                <a:spcPts val="4885"/>
              </a:lnSpc>
              <a:buFont typeface="Arial" panose="020B0604020202020204"/>
              <a:buNone/>
            </a:pPr>
            <a:r>
              <a:rPr lang="en-GB" altLang="en-US" sz="10000" b="1">
                <a:solidFill>
                  <a:srgbClr val="000000"/>
                </a:solidFill>
                <a:latin typeface="29LT Adir Semi-Bold" panose="00000706000000000000"/>
                <a:ea typeface="29LT Adir Semi-Bold" panose="00000706000000000000"/>
                <a:cs typeface="29LT Adir Semi-Bold" panose="00000706000000000000"/>
                <a:sym typeface="29LT Adir Semi-Bold" panose="00000706000000000000"/>
              </a:rPr>
              <a:t>WEKA</a:t>
            </a:r>
            <a:endParaRPr lang="en-GB" altLang="en-US" sz="10000" b="1">
              <a:solidFill>
                <a:srgbClr val="000000"/>
              </a:solidFill>
              <a:latin typeface="29LT Adir Semi-Bold" panose="00000706000000000000"/>
              <a:ea typeface="29LT Adir Semi-Bold" panose="00000706000000000000"/>
              <a:cs typeface="29LT Adir Semi-Bold" panose="00000706000000000000"/>
              <a:sym typeface="29LT Adir Semi-Bold" panose="00000706000000000000"/>
            </a:endParaRPr>
          </a:p>
        </p:txBody>
      </p:sp>
      <p:pic>
        <p:nvPicPr>
          <p:cNvPr id="14" name="Picture 13" descr="WEKAThe workbench for machine learni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219200"/>
            <a:ext cx="1094105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210042" y="7963160"/>
            <a:ext cx="2241710" cy="2824480"/>
            <a:chOff x="0" y="0"/>
            <a:chExt cx="812800" cy="10241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48811" y="518727"/>
              <a:ext cx="660324" cy="505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10106257">
            <a:off x="302954" y="426002"/>
            <a:ext cx="3363512" cy="336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923415" y="1617345"/>
            <a:ext cx="15241905" cy="8068310"/>
            <a:chOff x="0" y="0"/>
            <a:chExt cx="18758712" cy="9160122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18695212" cy="9096621"/>
            </a:xfrm>
            <a:custGeom>
              <a:avLst/>
              <a:gdLst/>
              <a:ahLst/>
              <a:cxnLst/>
              <a:rect l="l" t="t" r="r" b="b"/>
              <a:pathLst>
                <a:path w="18695212" h="9096621">
                  <a:moveTo>
                    <a:pt x="18602502" y="9096621"/>
                  </a:moveTo>
                  <a:lnTo>
                    <a:pt x="92710" y="9096621"/>
                  </a:lnTo>
                  <a:cubicBezTo>
                    <a:pt x="41910" y="9096621"/>
                    <a:pt x="0" y="9054712"/>
                    <a:pt x="0" y="900391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8601232" y="0"/>
                  </a:lnTo>
                  <a:cubicBezTo>
                    <a:pt x="18652032" y="0"/>
                    <a:pt x="18693943" y="41910"/>
                    <a:pt x="18693943" y="92710"/>
                  </a:cubicBezTo>
                  <a:lnTo>
                    <a:pt x="18693943" y="9002642"/>
                  </a:lnTo>
                  <a:cubicBezTo>
                    <a:pt x="18695212" y="9054712"/>
                    <a:pt x="18653302" y="9096621"/>
                    <a:pt x="18602502" y="909662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en-GB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8758712" cy="9160121"/>
            </a:xfrm>
            <a:custGeom>
              <a:avLst/>
              <a:gdLst/>
              <a:ahLst/>
              <a:cxnLst/>
              <a:rect l="l" t="t" r="r" b="b"/>
              <a:pathLst>
                <a:path w="18758712" h="9160121">
                  <a:moveTo>
                    <a:pt x="18634252" y="59690"/>
                  </a:moveTo>
                  <a:cubicBezTo>
                    <a:pt x="18669812" y="59690"/>
                    <a:pt x="18699021" y="88900"/>
                    <a:pt x="18699021" y="124460"/>
                  </a:cubicBezTo>
                  <a:lnTo>
                    <a:pt x="18699021" y="9035662"/>
                  </a:lnTo>
                  <a:cubicBezTo>
                    <a:pt x="18699021" y="9071221"/>
                    <a:pt x="18669812" y="9100431"/>
                    <a:pt x="18634252" y="9100431"/>
                  </a:cubicBezTo>
                  <a:lnTo>
                    <a:pt x="124460" y="9100431"/>
                  </a:lnTo>
                  <a:cubicBezTo>
                    <a:pt x="88900" y="9100431"/>
                    <a:pt x="59690" y="9071221"/>
                    <a:pt x="59690" y="903566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8634252" y="59690"/>
                  </a:lnTo>
                  <a:moveTo>
                    <a:pt x="1863425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35662"/>
                  </a:lnTo>
                  <a:cubicBezTo>
                    <a:pt x="0" y="9104242"/>
                    <a:pt x="55880" y="9160121"/>
                    <a:pt x="124460" y="9160121"/>
                  </a:cubicBezTo>
                  <a:lnTo>
                    <a:pt x="18634252" y="9160121"/>
                  </a:lnTo>
                  <a:cubicBezTo>
                    <a:pt x="18702832" y="9160121"/>
                    <a:pt x="18758712" y="9104242"/>
                    <a:pt x="18758712" y="9035662"/>
                  </a:cubicBezTo>
                  <a:lnTo>
                    <a:pt x="18758712" y="124460"/>
                  </a:lnTo>
                  <a:cubicBezTo>
                    <a:pt x="18758712" y="55880"/>
                    <a:pt x="18702832" y="0"/>
                    <a:pt x="18634252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id="21" name="AutoShape 21"/>
          <p:cNvSpPr/>
          <p:nvPr/>
        </p:nvSpPr>
        <p:spPr>
          <a:xfrm flipV="1">
            <a:off x="1923415" y="2611120"/>
            <a:ext cx="15241905" cy="127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 rot="-10106257">
            <a:off x="4503954" y="690402"/>
            <a:ext cx="676596" cy="6765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6812148" y="5874679"/>
            <a:ext cx="705891" cy="70589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2894133" y="8859887"/>
            <a:ext cx="1306637" cy="1158173"/>
            <a:chOff x="0" y="0"/>
            <a:chExt cx="558181" cy="4947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8181" cy="494759"/>
            </a:xfrm>
            <a:custGeom>
              <a:avLst/>
              <a:gdLst/>
              <a:ahLst/>
              <a:cxnLst/>
              <a:rect l="l" t="t" r="r" b="b"/>
              <a:pathLst>
                <a:path w="558181" h="494759">
                  <a:moveTo>
                    <a:pt x="279091" y="0"/>
                  </a:moveTo>
                  <a:cubicBezTo>
                    <a:pt x="124953" y="0"/>
                    <a:pt x="0" y="110756"/>
                    <a:pt x="0" y="247379"/>
                  </a:cubicBezTo>
                  <a:cubicBezTo>
                    <a:pt x="0" y="384003"/>
                    <a:pt x="124953" y="494759"/>
                    <a:pt x="279091" y="494759"/>
                  </a:cubicBezTo>
                  <a:cubicBezTo>
                    <a:pt x="433228" y="494759"/>
                    <a:pt x="558181" y="384003"/>
                    <a:pt x="558181" y="247379"/>
                  </a:cubicBezTo>
                  <a:cubicBezTo>
                    <a:pt x="558181" y="110756"/>
                    <a:pt x="433228" y="0"/>
                    <a:pt x="279091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52329" y="-1241"/>
              <a:ext cx="453522" cy="449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1129163" y="8538747"/>
            <a:ext cx="958510" cy="95851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057400" y="3112135"/>
            <a:ext cx="15020290" cy="457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GB" altLang="en-US" sz="7700">
                <a:latin typeface="29LT Adir Semi-Bold" charset="0"/>
                <a:cs typeface="29LT Adir Semi-Bold" charset="0"/>
                <a:sym typeface="+mn-ea"/>
              </a:rPr>
              <a:t>WEKA-Steps </a:t>
            </a:r>
            <a:endParaRPr lang="en-US" altLang="en-GB" sz="7700"/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GB" altLang="en-US" sz="770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  <p:grpSp>
        <p:nvGrpSpPr>
          <p:cNvPr id="36" name="Group 8"/>
          <p:cNvGrpSpPr/>
          <p:nvPr/>
        </p:nvGrpSpPr>
        <p:grpSpPr>
          <a:xfrm rot="0">
            <a:off x="14905615" y="2015000"/>
            <a:ext cx="837799" cy="364763"/>
            <a:chOff x="0" y="0"/>
            <a:chExt cx="1117065" cy="486350"/>
          </a:xfrm>
        </p:grpSpPr>
        <p:grpSp>
          <p:nvGrpSpPr>
            <p:cNvPr id="37" name="Group 9"/>
            <p:cNvGrpSpPr/>
            <p:nvPr/>
          </p:nvGrpSpPr>
          <p:grpSpPr>
            <a:xfrm rot="0">
              <a:off x="0" y="0"/>
              <a:ext cx="486350" cy="486350"/>
              <a:chOff x="0" y="0"/>
              <a:chExt cx="812800" cy="812800"/>
            </a:xfrm>
          </p:grpSpPr>
          <p:sp>
            <p:nvSpPr>
              <p:cNvPr id="38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7354"/>
              </a:solidFill>
            </p:spPr>
          </p:sp>
          <p:sp>
            <p:nvSpPr>
              <p:cNvPr id="39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0" name="Group 12"/>
            <p:cNvGrpSpPr/>
            <p:nvPr/>
          </p:nvGrpSpPr>
          <p:grpSpPr>
            <a:xfrm rot="0">
              <a:off x="630714" y="0"/>
              <a:ext cx="486350" cy="486350"/>
              <a:chOff x="0" y="0"/>
              <a:chExt cx="812800" cy="812800"/>
            </a:xfrm>
          </p:grpSpPr>
          <p:sp>
            <p:nvSpPr>
              <p:cNvPr id="41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AADD"/>
              </a:solidFill>
            </p:spPr>
          </p:sp>
          <p:sp>
            <p:nvSpPr>
              <p:cNvPr id="42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1" name="TextBox 35"/>
          <p:cNvSpPr txBox="1"/>
          <p:nvPr/>
        </p:nvSpPr>
        <p:spPr>
          <a:xfrm>
            <a:off x="2209800" y="3663315"/>
            <a:ext cx="14019530" cy="5372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marL="0" indent="0">
              <a:buNone/>
            </a:pPr>
            <a:r>
              <a:rPr lang="en-GB" altLang="en-US" sz="3490" u="sng">
                <a:latin typeface="29LT Adir Semi-Bold" charset="0"/>
                <a:cs typeface="29LT Adir Semi-Bold" charset="0"/>
                <a:sym typeface="+mn-ea"/>
              </a:rPr>
              <a:t>Here’s The Steps:</a:t>
            </a:r>
            <a:endParaRPr lang="en-GB" altLang="en-US" sz="3490" u="sng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GB" altLang="en-US" sz="3490" u="sng">
                <a:latin typeface="29LT Adir Semi-Bold" charset="0"/>
                <a:cs typeface="29LT Adir Semi-Bold" charset="0"/>
                <a:sym typeface="+mn-ea"/>
              </a:rPr>
              <a:t>once you turn your data from categorical to numerical </a:t>
            </a:r>
            <a:endParaRPr lang="en-GB" altLang="en-US" sz="3490" u="sng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GB" altLang="en-US" sz="3490">
                <a:latin typeface="29LT Adir Semi-Bold" charset="0"/>
                <a:cs typeface="29LT Adir Semi-Bold" charset="0"/>
                <a:sym typeface="+mn-ea"/>
              </a:rPr>
              <a:t>1.load data set :from explorer tab-&gt;open file -&gt;choose Your csv File</a:t>
            </a:r>
            <a:endParaRPr lang="en-GB" altLang="en-US" sz="3490">
              <a:latin typeface="29LT Adir Semi-Bold" charset="0"/>
              <a:cs typeface="29LT Adir Semi-Bold" charset="0"/>
            </a:endParaRPr>
          </a:p>
          <a:p>
            <a:pPr marL="0" indent="0">
              <a:buNone/>
            </a:pPr>
            <a:r>
              <a:rPr lang="en-GB" altLang="en-US" sz="3490">
                <a:latin typeface="29LT Adir Semi-Bold" charset="0"/>
                <a:cs typeface="29LT Adir Semi-Bold" charset="0"/>
                <a:sym typeface="+mn-ea"/>
              </a:rPr>
              <a:t>2.To make the logistic regression :From classifiy tab-&gt;classifiers--&gt;functions-&gt;Logistic</a:t>
            </a:r>
            <a:endParaRPr lang="en-US" altLang="en-GB" sz="3490" b="1">
              <a:solidFill>
                <a:srgbClr val="000000"/>
              </a:solidFill>
              <a:latin typeface="29LT Adir Semi-Bold" charset="0"/>
              <a:ea typeface="29LT Adir Semi-Bold" panose="00000706000000000000"/>
              <a:cs typeface="29LT Adir Semi-Bold" charset="0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95894" y="1335834"/>
            <a:ext cx="7496213" cy="2298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60"/>
              </a:lnSpc>
              <a:spcBef>
                <a:spcPct val="0"/>
              </a:spcBef>
            </a:pPr>
            <a:r>
              <a:rPr lang="en-US" sz="6400" b="1">
                <a:solidFill>
                  <a:srgbClr val="000000"/>
                </a:solidFill>
                <a:latin typeface="29LT Adir Ultra-Bold" panose="00000906000000000000"/>
                <a:ea typeface="29LT Adir Ultra-Bold" panose="00000906000000000000"/>
                <a:cs typeface="29LT Adir Ultra-Bold" panose="00000906000000000000"/>
                <a:sym typeface="29LT Adir Ultra-Bold" panose="00000906000000000000"/>
              </a:rPr>
              <a:t>RESOURCE PAGE</a:t>
            </a:r>
            <a:r>
              <a:rPr lang="en-GB" altLang="en-US" sz="6400" b="1">
                <a:solidFill>
                  <a:srgbClr val="000000"/>
                </a:solidFill>
                <a:latin typeface="29LT Adir Ultra-Bold" panose="00000906000000000000"/>
                <a:ea typeface="29LT Adir Ultra-Bold" panose="00000906000000000000"/>
                <a:cs typeface="29LT Adir Ultra-Bold" panose="00000906000000000000"/>
                <a:sym typeface="29LT Adir Ultra-Bold" panose="00000906000000000000"/>
              </a:rPr>
              <a:t> 1 (PYTHON)</a:t>
            </a:r>
            <a:endParaRPr lang="en-GB" altLang="en-US" sz="6400" b="1">
              <a:solidFill>
                <a:srgbClr val="000000"/>
              </a:solidFill>
              <a:latin typeface="29LT Adir Ultra-Bold" panose="00000906000000000000"/>
              <a:ea typeface="29LT Adir Ultra-Bold" panose="00000906000000000000"/>
              <a:cs typeface="29LT Adir Ultra-Bold" panose="00000906000000000000"/>
              <a:sym typeface="29LT Adir Ultra-Bold" panose="0000090600000000000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90170" y="2997835"/>
            <a:ext cx="18197830" cy="7137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GB" altLang="en-US"/>
              <a:t>Dataset Resource:</a:t>
            </a:r>
            <a:endParaRPr lang="en-GB" altLang="en-US"/>
          </a:p>
          <a:p>
            <a:endParaRPr lang="en-GB" altLang="en-US"/>
          </a:p>
          <a:p>
            <a:r>
              <a:rPr lang="en-US" altLang="en-GB"/>
              <a:t>https://www.kaggle.com/datasets/kazanova/sentiment140</a:t>
            </a:r>
            <a:endParaRPr lang="en-US" altLang="en-GB"/>
          </a:p>
          <a:p>
            <a:endParaRPr lang="en-US" altLang="en-GB"/>
          </a:p>
          <a:p>
            <a:endParaRPr lang="en-US" altLang="en-GB"/>
          </a:p>
          <a:p>
            <a:r>
              <a:rPr lang="en-GB" altLang="en-US"/>
              <a:t>Code :</a:t>
            </a:r>
            <a:endParaRPr lang="en-GB" altLang="en-US"/>
          </a:p>
          <a:p>
            <a:r>
              <a:rPr lang="en-GB" altLang="en-US"/>
              <a:t>1.Machine Learning with python</a:t>
            </a:r>
            <a:endParaRPr lang="en-GB" altLang="en-US"/>
          </a:p>
          <a:p>
            <a:endParaRPr lang="en-GB" altLang="en-US"/>
          </a:p>
          <a:p>
            <a:endParaRPr lang="en-GB" altLang="en-US"/>
          </a:p>
          <a:p>
            <a:endParaRPr lang="en-GB" altLang="en-US"/>
          </a:p>
          <a:p>
            <a:endParaRPr lang="en-GB" altLang="en-US"/>
          </a:p>
          <a:p>
            <a:endParaRPr lang="en-GB" altLang="en-US"/>
          </a:p>
          <a:p>
            <a:endParaRPr lang="en-GB" altLang="en-US"/>
          </a:p>
          <a:p>
            <a:endParaRPr lang="en-GB" altLang="en-US"/>
          </a:p>
          <a:p>
            <a:endParaRPr lang="en-GB" altLang="en-US"/>
          </a:p>
          <a:p>
            <a:r>
              <a:rPr lang="en-GB" altLang="en-US"/>
              <a:t>2.Streamlit for data science </a:t>
            </a:r>
            <a:endParaRPr lang="en-GB" altLang="en-US"/>
          </a:p>
        </p:txBody>
      </p:sp>
      <p:pic>
        <p:nvPicPr>
          <p:cNvPr id="16" name="Picture 15" descr="Screenshot 2025-05-14 2115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935" y="4991100"/>
            <a:ext cx="1879600" cy="2152650"/>
          </a:xfrm>
          <a:prstGeom prst="rect">
            <a:avLst/>
          </a:prstGeom>
        </p:spPr>
      </p:pic>
      <p:pic>
        <p:nvPicPr>
          <p:cNvPr id="18" name="Picture 17" descr="streamlit-for-data-science-boo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35" y="7491730"/>
            <a:ext cx="1852295" cy="261302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048000" y="1638300"/>
            <a:ext cx="10692765" cy="762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6400" b="1">
                <a:solidFill>
                  <a:srgbClr val="000000"/>
                </a:solidFill>
                <a:latin typeface="29LT Adir Ultra-Bold" panose="00000906000000000000"/>
                <a:ea typeface="29LT Adir Ultra-Bold" panose="00000906000000000000"/>
                <a:cs typeface="29LT Adir Ultra-Bold" panose="00000906000000000000"/>
                <a:sym typeface="29LT Adir Ultra-Bold" panose="00000906000000000000"/>
              </a:rPr>
              <a:t>RESOURCE PAGE</a:t>
            </a:r>
            <a:r>
              <a:rPr lang="en-GB" altLang="en-US" sz="6400" b="1">
                <a:solidFill>
                  <a:srgbClr val="000000"/>
                </a:solidFill>
                <a:latin typeface="29LT Adir Ultra-Bold" panose="00000906000000000000"/>
                <a:ea typeface="29LT Adir Ultra-Bold" panose="00000906000000000000"/>
                <a:cs typeface="29LT Adir Ultra-Bold" panose="00000906000000000000"/>
                <a:sym typeface="29LT Adir Ultra-Bold" panose="00000906000000000000"/>
              </a:rPr>
              <a:t> 2 (R)</a:t>
            </a:r>
            <a:endParaRPr lang="en-GB" altLang="en-US" sz="6400"/>
          </a:p>
        </p:txBody>
      </p:sp>
      <p:sp>
        <p:nvSpPr>
          <p:cNvPr id="3" name="Text Box 2"/>
          <p:cNvSpPr txBox="1"/>
          <p:nvPr/>
        </p:nvSpPr>
        <p:spPr>
          <a:xfrm>
            <a:off x="635" y="4152265"/>
            <a:ext cx="18262600" cy="6135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GB" altLang="en-US"/>
              <a:t>1.Machine Learning with R</a:t>
            </a:r>
            <a:endParaRPr lang="en-GB" altLang="en-US"/>
          </a:p>
        </p:txBody>
      </p:sp>
      <p:pic>
        <p:nvPicPr>
          <p:cNvPr id="4" name="Picture 3" descr="cover_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4610100"/>
            <a:ext cx="3554095" cy="529653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048000" y="1638300"/>
            <a:ext cx="10692765" cy="762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6400" b="1">
                <a:solidFill>
                  <a:srgbClr val="000000"/>
                </a:solidFill>
                <a:latin typeface="29LT Adir Ultra-Bold" panose="00000906000000000000"/>
                <a:ea typeface="29LT Adir Ultra-Bold" panose="00000906000000000000"/>
                <a:cs typeface="29LT Adir Ultra-Bold" panose="00000906000000000000"/>
                <a:sym typeface="29LT Adir Ultra-Bold" panose="00000906000000000000"/>
              </a:rPr>
              <a:t>RESOURCE PAGE</a:t>
            </a:r>
            <a:r>
              <a:rPr lang="en-GB" altLang="en-US" sz="6400" b="1">
                <a:solidFill>
                  <a:srgbClr val="000000"/>
                </a:solidFill>
                <a:latin typeface="29LT Adir Ultra-Bold" panose="00000906000000000000"/>
                <a:ea typeface="29LT Adir Ultra-Bold" panose="00000906000000000000"/>
                <a:cs typeface="29LT Adir Ultra-Bold" panose="00000906000000000000"/>
                <a:sym typeface="29LT Adir Ultra-Bold" panose="00000906000000000000"/>
              </a:rPr>
              <a:t> 3 (WEKA)</a:t>
            </a:r>
            <a:endParaRPr lang="en-GB" altLang="en-US" sz="6400"/>
          </a:p>
        </p:txBody>
      </p:sp>
      <p:sp>
        <p:nvSpPr>
          <p:cNvPr id="3" name="Text Box 2"/>
          <p:cNvSpPr txBox="1"/>
          <p:nvPr/>
        </p:nvSpPr>
        <p:spPr>
          <a:xfrm>
            <a:off x="635" y="4152265"/>
            <a:ext cx="18262600" cy="6135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GB" altLang="en-US"/>
              <a:t>1.WEKA Documentation</a:t>
            </a:r>
            <a:endParaRPr lang="en-GB" altLang="en-US"/>
          </a:p>
        </p:txBody>
      </p:sp>
      <p:pic>
        <p:nvPicPr>
          <p:cNvPr id="5" name="Picture 4" descr="WEKAThe workbench for machine learni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" y="4838700"/>
            <a:ext cx="3251200" cy="32512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/>
          <p:cNvSpPr txBox="1"/>
          <p:nvPr/>
        </p:nvSpPr>
        <p:spPr>
          <a:xfrm>
            <a:off x="1028700" y="1931035"/>
            <a:ext cx="8115300" cy="231013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r">
              <a:lnSpc>
                <a:spcPts val="18675"/>
              </a:lnSpc>
              <a:spcBef>
                <a:spcPct val="0"/>
              </a:spcBef>
            </a:pPr>
            <a:r>
              <a:rPr lang="en-US" sz="13340" b="1">
                <a:solidFill>
                  <a:schemeClr val="tx2">
                    <a:lumMod val="40000"/>
                    <a:lumOff val="60000"/>
                  </a:schemeClr>
                </a:solidFill>
                <a:latin typeface="Asap Condensed Bold" panose="020F0806030202060203"/>
                <a:ea typeface="Asap Condensed Bold" panose="020F0806030202060203"/>
                <a:cs typeface="Asap Condensed Bold" panose="020F0806030202060203"/>
                <a:sym typeface="Asap Condensed Bold" panose="020F0806030202060203"/>
              </a:rPr>
              <a:t>THANK</a:t>
            </a:r>
            <a:endParaRPr lang="en-US" sz="13340" b="1">
              <a:solidFill>
                <a:schemeClr val="tx2">
                  <a:lumMod val="40000"/>
                  <a:lumOff val="60000"/>
                </a:schemeClr>
              </a:solidFill>
              <a:latin typeface="Asap Condensed Bold" panose="020F0806030202060203"/>
              <a:ea typeface="Asap Condensed Bold" panose="020F0806030202060203"/>
              <a:cs typeface="Asap Condensed Bold" panose="020F0806030202060203"/>
              <a:sym typeface="Asap Condensed Bold" panose="020F0806030202060203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4617622"/>
            <a:ext cx="8115300" cy="321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290"/>
              </a:lnSpc>
              <a:spcBef>
                <a:spcPct val="0"/>
              </a:spcBef>
            </a:pPr>
            <a:r>
              <a:rPr lang="en-US" sz="18780" b="1">
                <a:solidFill>
                  <a:srgbClr val="FF0000"/>
                </a:solidFill>
                <a:latin typeface="Asap Condensed Bold" panose="020F0806030202060203"/>
                <a:ea typeface="Asap Condensed Bold" panose="020F0806030202060203"/>
                <a:cs typeface="Asap Condensed Bold" panose="020F0806030202060203"/>
                <a:sym typeface="Asap Condensed Bold" panose="020F0806030202060203"/>
              </a:rPr>
              <a:t>YOU</a:t>
            </a:r>
            <a:r>
              <a:rPr lang="en-US" sz="18780" b="1">
                <a:solidFill>
                  <a:srgbClr val="000000"/>
                </a:solidFill>
                <a:latin typeface="Asap Condensed Bold" panose="020F0806030202060203"/>
                <a:ea typeface="Asap Condensed Bold" panose="020F0806030202060203"/>
                <a:cs typeface="Asap Condensed Bold" panose="020F0806030202060203"/>
                <a:sym typeface="Asap Condensed Bold" panose="020F0806030202060203"/>
              </a:rPr>
              <a:t>!</a:t>
            </a:r>
            <a:endParaRPr lang="en-US" sz="18780" b="1">
              <a:solidFill>
                <a:srgbClr val="000000"/>
              </a:solidFill>
              <a:latin typeface="Asap Condensed Bold" panose="020F0806030202060203"/>
              <a:ea typeface="Asap Condensed Bold" panose="020F0806030202060203"/>
              <a:cs typeface="Asap Condensed Bold" panose="020F0806030202060203"/>
              <a:sym typeface="Asap Condensed Bold" panose="020F0806030202060203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511781" y="2041211"/>
            <a:ext cx="6082168" cy="688859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</p:pic>
      <p:grpSp>
        <p:nvGrpSpPr>
          <p:cNvPr id="27" name="Group 27"/>
          <p:cNvGrpSpPr/>
          <p:nvPr/>
        </p:nvGrpSpPr>
        <p:grpSpPr>
          <a:xfrm rot="0">
            <a:off x="973906" y="5030985"/>
            <a:ext cx="3195301" cy="3195301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ADD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5"/>
          <p:cNvGrpSpPr/>
          <p:nvPr/>
        </p:nvGrpSpPr>
        <p:grpSpPr>
          <a:xfrm rot="-10106257">
            <a:off x="302954" y="426002"/>
            <a:ext cx="3363512" cy="3363512"/>
            <a:chOff x="0" y="0"/>
            <a:chExt cx="812800" cy="812800"/>
          </a:xfrm>
        </p:grpSpPr>
        <p:sp>
          <p:nvSpPr>
            <p:cNvPr id="20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0000"/>
            </a:solidFill>
          </p:spPr>
        </p:sp>
        <p:sp>
          <p:nvSpPr>
            <p:cNvPr id="21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9712</Words>
  <Application>WPS Presentation</Application>
  <PresentationFormat>On-screen Show (4:3)</PresentationFormat>
  <Paragraphs>431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66" baseType="lpstr">
      <vt:lpstr>Arial</vt:lpstr>
      <vt:lpstr>SimSun</vt:lpstr>
      <vt:lpstr>Wingdings</vt:lpstr>
      <vt:lpstr>Asap Condensed Bold</vt:lpstr>
      <vt:lpstr>Dumondi Condensed</vt:lpstr>
      <vt:lpstr>Euphorigenic</vt:lpstr>
      <vt:lpstr>Dumondi Condensed Bold</vt:lpstr>
      <vt:lpstr>Dumondi Condensed Italics</vt:lpstr>
      <vt:lpstr>Arial</vt:lpstr>
      <vt:lpstr>29LT Adir Semi-Bold</vt:lpstr>
      <vt:lpstr>29LT Adir</vt:lpstr>
      <vt:lpstr>Asap Condensed</vt:lpstr>
      <vt:lpstr>29LT Adir Bold</vt:lpstr>
      <vt:lpstr>Microsoft YaHei</vt:lpstr>
      <vt:lpstr>Arial Unicode MS</vt:lpstr>
      <vt:lpstr>Calibri</vt:lpstr>
      <vt:lpstr>29LT Adir Semi-Bold</vt:lpstr>
      <vt:lpstr>29LT Adir Ultra-Bold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Of Twitter</dc:title>
  <dc:creator/>
  <cp:lastModifiedBy>Abdullah Elgondakly</cp:lastModifiedBy>
  <cp:revision>42</cp:revision>
  <dcterms:created xsi:type="dcterms:W3CDTF">2006-08-16T00:00:00Z</dcterms:created>
  <dcterms:modified xsi:type="dcterms:W3CDTF">2025-05-18T12:58:20Z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B763A965522046D4B3B3174488598370_13</vt:lpwstr>
  </property>
  <property fmtid="{D5CDD505-2E9C-101B-9397-08002B2CF9AE}" pid="3" name="KSOProductBuildVer">
    <vt:lpwstr>2057-12.2.0.21179</vt:lpwstr>
  </property>
</Properties>
</file>